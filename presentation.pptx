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</p:sldMasterIdLst>
  <p:notesMasterIdLst>
    <p:notesMasterId r:id="rId26"/>
  </p:notesMasterIdLst>
  <p:sldIdLst>
    <p:sldId id="256" r:id="rId2"/>
    <p:sldId id="261" r:id="rId3"/>
    <p:sldId id="378" r:id="rId4"/>
    <p:sldId id="274" r:id="rId5"/>
    <p:sldId id="379" r:id="rId6"/>
    <p:sldId id="391" r:id="rId7"/>
    <p:sldId id="383" r:id="rId8"/>
    <p:sldId id="384" r:id="rId9"/>
    <p:sldId id="392" r:id="rId10"/>
    <p:sldId id="380" r:id="rId11"/>
    <p:sldId id="386" r:id="rId12"/>
    <p:sldId id="385" r:id="rId13"/>
    <p:sldId id="393" r:id="rId14"/>
    <p:sldId id="381" r:id="rId15"/>
    <p:sldId id="387" r:id="rId16"/>
    <p:sldId id="388" r:id="rId17"/>
    <p:sldId id="389" r:id="rId18"/>
    <p:sldId id="394" r:id="rId19"/>
    <p:sldId id="390" r:id="rId20"/>
    <p:sldId id="395" r:id="rId21"/>
    <p:sldId id="263" r:id="rId22"/>
    <p:sldId id="396" r:id="rId23"/>
    <p:sldId id="382" r:id="rId24"/>
    <p:sldId id="348" r:id="rId2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Didact Gothic" panose="00000500000000000000" pitchFamily="2" charset="0"/>
      <p:regular r:id="rId31"/>
    </p:embeddedFont>
    <p:embeddedFont>
      <p:font typeface="Julius Sans One" panose="020B0604020202020204" charset="0"/>
      <p:regular r:id="rId32"/>
    </p:embeddedFont>
    <p:embeddedFont>
      <p:font typeface="Questrial" pitchFamily="2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6DFEA"/>
    <a:srgbClr val="AFC0D7"/>
    <a:srgbClr val="D9D9D9"/>
    <a:srgbClr val="A6C399"/>
    <a:srgbClr val="BDA38F"/>
    <a:srgbClr val="FAE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E5BD68-E6C7-41C8-B8E1-6255FEC15791}" v="24" dt="2026-03-18T08:14:34.254"/>
  </p1510:revLst>
</p1510:revInfo>
</file>

<file path=ppt/tableStyles.xml><?xml version="1.0" encoding="utf-8"?>
<a:tblStyleLst xmlns:a="http://schemas.openxmlformats.org/drawingml/2006/main" def="{400D364A-E991-4585-8789-2BDE97CED70E}">
  <a:tblStyle styleId="{400D364A-E991-4585-8789-2BDE97CED7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303" autoAdjust="0"/>
  </p:normalViewPr>
  <p:slideViewPr>
    <p:cSldViewPr snapToGrid="0">
      <p:cViewPr varScale="1">
        <p:scale>
          <a:sx n="61" d="100"/>
          <a:sy n="61" d="100"/>
        </p:scale>
        <p:origin x="53" y="571"/>
      </p:cViewPr>
      <p:guideLst>
        <p:guide orient="horz" pos="162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tal Fuchs" userId="64c95548b24869e7" providerId="LiveId" clId="{5B2B659D-95F1-4A73-A5BF-D6438C232F07}"/>
    <pc:docChg chg="undo custSel addSld delSld modSld sldOrd delMainMaster">
      <pc:chgData name="Chantal Fuchs" userId="64c95548b24869e7" providerId="LiveId" clId="{5B2B659D-95F1-4A73-A5BF-D6438C232F07}" dt="2026-03-18T08:15:17.776" v="6727" actId="20577"/>
      <pc:docMkLst>
        <pc:docMk/>
      </pc:docMkLst>
      <pc:sldChg chg="addSp delSp modSp mod ord delAnim modAnim modNotesTx">
        <pc:chgData name="Chantal Fuchs" userId="64c95548b24869e7" providerId="LiveId" clId="{5B2B659D-95F1-4A73-A5BF-D6438C232F07}" dt="2026-03-18T07:57:15.716" v="6336" actId="20577"/>
        <pc:sldMkLst>
          <pc:docMk/>
          <pc:sldMk cId="0" sldId="262"/>
        </pc:sldMkLst>
      </pc:sldChg>
      <pc:sldChg chg="modNotesTx">
        <pc:chgData name="Chantal Fuchs" userId="64c95548b24869e7" providerId="LiveId" clId="{5B2B659D-95F1-4A73-A5BF-D6438C232F07}" dt="2026-03-18T07:59:28.160" v="6368" actId="20577"/>
        <pc:sldMkLst>
          <pc:docMk/>
          <pc:sldMk cId="0" sldId="263"/>
        </pc:sldMkLst>
      </pc:sldChg>
      <pc:sldChg chg="modNotesTx">
        <pc:chgData name="Chantal Fuchs" userId="64c95548b24869e7" providerId="LiveId" clId="{5B2B659D-95F1-4A73-A5BF-D6438C232F07}" dt="2026-03-18T08:15:17.776" v="6727" actId="20577"/>
        <pc:sldMkLst>
          <pc:docMk/>
          <pc:sldMk cId="0" sldId="264"/>
        </pc:sldMkLst>
      </pc:sldChg>
      <pc:sldChg chg="modNotesTx">
        <pc:chgData name="Chantal Fuchs" userId="64c95548b24869e7" providerId="LiveId" clId="{5B2B659D-95F1-4A73-A5BF-D6438C232F07}" dt="2026-03-18T08:00:25.379" v="6377" actId="20577"/>
        <pc:sldMkLst>
          <pc:docMk/>
          <pc:sldMk cId="277495343" sldId="349"/>
        </pc:sldMkLst>
      </pc:sldChg>
      <pc:sldChg chg="modNotesTx">
        <pc:chgData name="Chantal Fuchs" userId="64c95548b24869e7" providerId="LiveId" clId="{5B2B659D-95F1-4A73-A5BF-D6438C232F07}" dt="2026-03-18T08:01:29.123" v="6387" actId="20577"/>
        <pc:sldMkLst>
          <pc:docMk/>
          <pc:sldMk cId="3667533958" sldId="352"/>
        </pc:sldMkLst>
      </pc:sldChg>
      <pc:sldChg chg="modNotesTx">
        <pc:chgData name="Chantal Fuchs" userId="64c95548b24869e7" providerId="LiveId" clId="{5B2B659D-95F1-4A73-A5BF-D6438C232F07}" dt="2026-03-18T08:02:06.780" v="6418" actId="20577"/>
        <pc:sldMkLst>
          <pc:docMk/>
          <pc:sldMk cId="3833923986" sldId="355"/>
        </pc:sldMkLst>
      </pc:sldChg>
      <pc:sldChg chg="modNotesTx">
        <pc:chgData name="Chantal Fuchs" userId="64c95548b24869e7" providerId="LiveId" clId="{5B2B659D-95F1-4A73-A5BF-D6438C232F07}" dt="2026-03-18T08:02:38.037" v="6421" actId="20577"/>
        <pc:sldMkLst>
          <pc:docMk/>
          <pc:sldMk cId="4248882076" sldId="356"/>
        </pc:sldMkLst>
      </pc:sldChg>
      <pc:sldChg chg="modNotesTx">
        <pc:chgData name="Chantal Fuchs" userId="64c95548b24869e7" providerId="LiveId" clId="{5B2B659D-95F1-4A73-A5BF-D6438C232F07}" dt="2026-03-18T08:03:09.396" v="6424" actId="20577"/>
        <pc:sldMkLst>
          <pc:docMk/>
          <pc:sldMk cId="3084585307" sldId="357"/>
        </pc:sldMkLst>
      </pc:sldChg>
      <pc:sldChg chg="modNotesTx">
        <pc:chgData name="Chantal Fuchs" userId="64c95548b24869e7" providerId="LiveId" clId="{5B2B659D-95F1-4A73-A5BF-D6438C232F07}" dt="2026-03-18T08:04:19.837" v="6437" actId="20577"/>
        <pc:sldMkLst>
          <pc:docMk/>
          <pc:sldMk cId="1922208199" sldId="358"/>
        </pc:sldMkLst>
      </pc:sldChg>
      <pc:sldChg chg="modNotesTx">
        <pc:chgData name="Chantal Fuchs" userId="64c95548b24869e7" providerId="LiveId" clId="{5B2B659D-95F1-4A73-A5BF-D6438C232F07}" dt="2026-03-18T08:05:27.744" v="6448" actId="20577"/>
        <pc:sldMkLst>
          <pc:docMk/>
          <pc:sldMk cId="3902658121" sldId="360"/>
        </pc:sldMkLst>
      </pc:sldChg>
      <pc:sldChg chg="modNotesTx">
        <pc:chgData name="Chantal Fuchs" userId="64c95548b24869e7" providerId="LiveId" clId="{5B2B659D-95F1-4A73-A5BF-D6438C232F07}" dt="2026-03-18T08:07:17.419" v="6467" actId="20577"/>
        <pc:sldMkLst>
          <pc:docMk/>
          <pc:sldMk cId="2966972291" sldId="361"/>
        </pc:sldMkLst>
      </pc:sldChg>
      <pc:sldChg chg="modNotesTx">
        <pc:chgData name="Chantal Fuchs" userId="64c95548b24869e7" providerId="LiveId" clId="{5B2B659D-95F1-4A73-A5BF-D6438C232F07}" dt="2026-03-18T08:09:02.381" v="6479" actId="20577"/>
        <pc:sldMkLst>
          <pc:docMk/>
          <pc:sldMk cId="4246855161" sldId="362"/>
        </pc:sldMkLst>
      </pc:sldChg>
      <pc:sldChg chg="modNotesTx">
        <pc:chgData name="Chantal Fuchs" userId="64c95548b24869e7" providerId="LiveId" clId="{5B2B659D-95F1-4A73-A5BF-D6438C232F07}" dt="2026-03-18T08:09:42.923" v="6482" actId="20577"/>
        <pc:sldMkLst>
          <pc:docMk/>
          <pc:sldMk cId="2363148515" sldId="364"/>
        </pc:sldMkLst>
      </pc:sldChg>
      <pc:sldChg chg="modNotesTx">
        <pc:chgData name="Chantal Fuchs" userId="64c95548b24869e7" providerId="LiveId" clId="{5B2B659D-95F1-4A73-A5BF-D6438C232F07}" dt="2026-03-18T08:11:05.028" v="6491" actId="20577"/>
        <pc:sldMkLst>
          <pc:docMk/>
          <pc:sldMk cId="1194103050" sldId="365"/>
        </pc:sldMkLst>
      </pc:sldChg>
      <pc:sldChg chg="modNotesTx">
        <pc:chgData name="Chantal Fuchs" userId="64c95548b24869e7" providerId="LiveId" clId="{5B2B659D-95F1-4A73-A5BF-D6438C232F07}" dt="2026-03-18T08:13:23.431" v="6700" actId="20577"/>
        <pc:sldMkLst>
          <pc:docMk/>
          <pc:sldMk cId="292276672" sldId="366"/>
        </pc:sldMkLst>
      </pc:sldChg>
      <pc:sldChg chg="modNotesTx">
        <pc:chgData name="Chantal Fuchs" userId="64c95548b24869e7" providerId="LiveId" clId="{5B2B659D-95F1-4A73-A5BF-D6438C232F07}" dt="2026-03-18T08:14:23.175" v="6715" actId="20577"/>
        <pc:sldMkLst>
          <pc:docMk/>
          <pc:sldMk cId="2424699902" sldId="3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CH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47f2e9a217_0_2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437" name="Google Shape;437;g347f2e9a217_0_2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47f2e9a217_0_2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494" name="Google Shape;494;g347f2e9a217_0_2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47f2e9a217_0_2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622" name="Google Shape;622;g347f2e9a217_0_2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E76CBC61-8E4B-83C7-680D-F84217D0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47f2e9a217_0_2356:notes">
            <a:extLst>
              <a:ext uri="{FF2B5EF4-FFF2-40B4-BE49-F238E27FC236}">
                <a16:creationId xmlns:a16="http://schemas.microsoft.com/office/drawing/2014/main" id="{5F7CD1E0-5CE6-50BC-3E10-C9BBC96FD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494" name="Google Shape;494;g347f2e9a217_0_2356:notes">
            <a:extLst>
              <a:ext uri="{FF2B5EF4-FFF2-40B4-BE49-F238E27FC236}">
                <a16:creationId xmlns:a16="http://schemas.microsoft.com/office/drawing/2014/main" id="{DB683E57-7C53-D2EB-4512-5708F7B53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535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5787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B9D9C287-B0B7-2DCD-2707-CA330874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47f2e9a217_0_2476:notes">
            <a:extLst>
              <a:ext uri="{FF2B5EF4-FFF2-40B4-BE49-F238E27FC236}">
                <a16:creationId xmlns:a16="http://schemas.microsoft.com/office/drawing/2014/main" id="{5B9BA7D8-4BF7-D64C-4C18-059744FF0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622" name="Google Shape;622;g347f2e9a217_0_2476:notes">
            <a:extLst>
              <a:ext uri="{FF2B5EF4-FFF2-40B4-BE49-F238E27FC236}">
                <a16:creationId xmlns:a16="http://schemas.microsoft.com/office/drawing/2014/main" id="{51881BAB-0629-713B-E87D-BEDE1DCF4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004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D1D6AA9C-3EF7-B2F9-24B5-22FFA018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47f2e9a217_0_2356:notes">
            <a:extLst>
              <a:ext uri="{FF2B5EF4-FFF2-40B4-BE49-F238E27FC236}">
                <a16:creationId xmlns:a16="http://schemas.microsoft.com/office/drawing/2014/main" id="{E110CE10-347D-EC80-3033-BBF5AD0B2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494" name="Google Shape;494;g347f2e9a217_0_2356:notes">
            <a:extLst>
              <a:ext uri="{FF2B5EF4-FFF2-40B4-BE49-F238E27FC236}">
                <a16:creationId xmlns:a16="http://schemas.microsoft.com/office/drawing/2014/main" id="{0B40B4BE-FDDB-B3EC-E794-263F29BDE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23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AB36E2AD-21FA-648B-D60A-B56B95C4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47f2e9a217_0_2476:notes">
            <a:extLst>
              <a:ext uri="{FF2B5EF4-FFF2-40B4-BE49-F238E27FC236}">
                <a16:creationId xmlns:a16="http://schemas.microsoft.com/office/drawing/2014/main" id="{22A2826D-1F7F-36E7-977D-F2EF2A2C6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622" name="Google Shape;622;g347f2e9a217_0_2476:notes">
            <a:extLst>
              <a:ext uri="{FF2B5EF4-FFF2-40B4-BE49-F238E27FC236}">
                <a16:creationId xmlns:a16="http://schemas.microsoft.com/office/drawing/2014/main" id="{1D0FC7D1-7067-9EF0-4EA1-2A07BA5EE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57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E6D18BC0-4154-FDEB-044C-12D1A273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47f2e9a217_0_2356:notes">
            <a:extLst>
              <a:ext uri="{FF2B5EF4-FFF2-40B4-BE49-F238E27FC236}">
                <a16:creationId xmlns:a16="http://schemas.microsoft.com/office/drawing/2014/main" id="{EE616412-4D26-C84C-D322-4A077A143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494" name="Google Shape;494;g347f2e9a217_0_2356:notes">
            <a:extLst>
              <a:ext uri="{FF2B5EF4-FFF2-40B4-BE49-F238E27FC236}">
                <a16:creationId xmlns:a16="http://schemas.microsoft.com/office/drawing/2014/main" id="{E0E895CF-0B97-E1FD-864F-2A571713E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28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26E2255E-B4C8-5968-5D78-93E78F5D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47f2e9a217_0_2476:notes">
            <a:extLst>
              <a:ext uri="{FF2B5EF4-FFF2-40B4-BE49-F238E27FC236}">
                <a16:creationId xmlns:a16="http://schemas.microsoft.com/office/drawing/2014/main" id="{DD3EF173-6951-5D68-55A9-69ABEA61D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622" name="Google Shape;622;g347f2e9a217_0_2476:notes">
            <a:extLst>
              <a:ext uri="{FF2B5EF4-FFF2-40B4-BE49-F238E27FC236}">
                <a16:creationId xmlns:a16="http://schemas.microsoft.com/office/drawing/2014/main" id="{E241A272-8D5E-1842-8B1D-5A3B9308C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128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0879A45B-5748-5F6B-6BC7-26D01FEC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47f2e9a217_0_2476:notes">
            <a:extLst>
              <a:ext uri="{FF2B5EF4-FFF2-40B4-BE49-F238E27FC236}">
                <a16:creationId xmlns:a16="http://schemas.microsoft.com/office/drawing/2014/main" id="{B3406954-7709-74CE-4816-141CBD193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CH"/>
          </a:p>
        </p:txBody>
      </p:sp>
      <p:sp>
        <p:nvSpPr>
          <p:cNvPr id="622" name="Google Shape;622;g347f2e9a217_0_2476:notes">
            <a:extLst>
              <a:ext uri="{FF2B5EF4-FFF2-40B4-BE49-F238E27FC236}">
                <a16:creationId xmlns:a16="http://schemas.microsoft.com/office/drawing/2014/main" id="{DC617724-696C-40C2-6E85-24B788505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90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3537625" y="711975"/>
            <a:ext cx="7035600" cy="3277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1255025"/>
            <a:ext cx="4322700" cy="3891000"/>
          </a:xfrm>
          <a:prstGeom prst="rtTriangl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034200" y="0"/>
            <a:ext cx="10867800" cy="5143500"/>
          </a:xfrm>
          <a:prstGeom prst="triangle">
            <a:avLst>
              <a:gd name="adj" fmla="val 49850"/>
            </a:avLst>
          </a:prstGeom>
          <a:solidFill>
            <a:srgbClr val="3838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603058" y="1948236"/>
            <a:ext cx="4543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16899" y="4037775"/>
            <a:ext cx="5829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833927" y="2641577"/>
            <a:ext cx="3100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209273" y="2641577"/>
            <a:ext cx="3100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54977" y="1985760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3"/>
          </p:nvPr>
        </p:nvSpPr>
        <p:spPr>
          <a:xfrm>
            <a:off x="5930323" y="1985760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/>
          <p:nvPr/>
        </p:nvSpPr>
        <p:spPr>
          <a:xfrm rot="10800000">
            <a:off x="3588450" y="-22625"/>
            <a:ext cx="1967100" cy="885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6"/>
          <p:cNvCxnSpPr/>
          <p:nvPr/>
        </p:nvCxnSpPr>
        <p:spPr>
          <a:xfrm>
            <a:off x="6350113" y="-1501125"/>
            <a:ext cx="3757500" cy="4183800"/>
          </a:xfrm>
          <a:prstGeom prst="straightConnector1">
            <a:avLst/>
          </a:prstGeom>
          <a:noFill/>
          <a:ln w="19050" cap="flat" cmpd="sng">
            <a:solidFill>
              <a:srgbClr val="EEEEE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6"/>
          <p:cNvSpPr/>
          <p:nvPr/>
        </p:nvSpPr>
        <p:spPr>
          <a:xfrm>
            <a:off x="-64200" y="3825775"/>
            <a:ext cx="1296000" cy="13824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258900" y="-237925"/>
            <a:ext cx="11403900" cy="5844300"/>
          </a:xfrm>
          <a:prstGeom prst="triangle">
            <a:avLst>
              <a:gd name="adj" fmla="val 50000"/>
            </a:avLst>
          </a:pr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/>
          <p:nvPr/>
        </p:nvSpPr>
        <p:spPr>
          <a:xfrm rot="10800000">
            <a:off x="-5389050" y="-2161975"/>
            <a:ext cx="11403900" cy="5844300"/>
          </a:xfrm>
          <a:prstGeom prst="triangle">
            <a:avLst>
              <a:gd name="adj" fmla="val 50000"/>
            </a:avLst>
          </a:prstGeom>
          <a:solidFill>
            <a:srgbClr val="929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5211275" y="3863525"/>
            <a:ext cx="2907300" cy="14901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9292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/>
          <p:nvPr/>
        </p:nvSpPr>
        <p:spPr>
          <a:xfrm rot="10800000">
            <a:off x="1107975" y="-556075"/>
            <a:ext cx="2907300" cy="14901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2860200" y="2098184"/>
            <a:ext cx="34236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400" b="1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 idx="2" hasCustomPrompt="1"/>
          </p:nvPr>
        </p:nvSpPr>
        <p:spPr>
          <a:xfrm>
            <a:off x="3043350" y="1032009"/>
            <a:ext cx="30573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3531300" y="3320300"/>
            <a:ext cx="2081400" cy="5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11" name="Google Shape;111;p16"/>
          <p:cNvSpPr/>
          <p:nvPr/>
        </p:nvSpPr>
        <p:spPr>
          <a:xfrm flipH="1">
            <a:off x="7919875" y="3825775"/>
            <a:ext cx="1296000" cy="13824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3">
    <p:bg>
      <p:bgPr>
        <a:solidFill>
          <a:schemeClr val="accent5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716550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p28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1" name="Google Shape;191;p28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88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bg>
      <p:bgPr>
        <a:solidFill>
          <a:schemeClr val="accent5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>
            <a:spLocks noGrp="1"/>
          </p:cNvSpPr>
          <p:nvPr>
            <p:ph type="title"/>
          </p:nvPr>
        </p:nvSpPr>
        <p:spPr>
          <a:xfrm>
            <a:off x="4572000" y="1737675"/>
            <a:ext cx="3636600" cy="13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400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45"/>
          <p:cNvSpPr txBox="1">
            <a:spLocks noGrp="1"/>
          </p:cNvSpPr>
          <p:nvPr>
            <p:ph type="title" idx="2" hasCustomPrompt="1"/>
          </p:nvPr>
        </p:nvSpPr>
        <p:spPr>
          <a:xfrm>
            <a:off x="5151175" y="424768"/>
            <a:ext cx="3057300" cy="14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45"/>
          <p:cNvSpPr txBox="1">
            <a:spLocks noGrp="1"/>
          </p:cNvSpPr>
          <p:nvPr>
            <p:ph type="subTitle" idx="1"/>
          </p:nvPr>
        </p:nvSpPr>
        <p:spPr>
          <a:xfrm>
            <a:off x="5367475" y="3320300"/>
            <a:ext cx="28410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cxnSp>
        <p:nvCxnSpPr>
          <p:cNvPr id="346" name="Google Shape;346;p45"/>
          <p:cNvCxnSpPr/>
          <p:nvPr/>
        </p:nvCxnSpPr>
        <p:spPr>
          <a:xfrm flipH="1">
            <a:off x="2814150" y="-1263000"/>
            <a:ext cx="3757500" cy="418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45"/>
          <p:cNvSpPr/>
          <p:nvPr/>
        </p:nvSpPr>
        <p:spPr>
          <a:xfrm flipH="1">
            <a:off x="7919875" y="3825775"/>
            <a:ext cx="1296000" cy="13824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545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6" r:id="rId5"/>
    <p:sldLayoutId id="2147483658" r:id="rId6"/>
    <p:sldLayoutId id="2147483662" r:id="rId7"/>
    <p:sldLayoutId id="2147483674" r:id="rId8"/>
    <p:sldLayoutId id="2147483707" r:id="rId9"/>
    <p:sldLayoutId id="214748370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>
            <a:spLocks noGrp="1"/>
          </p:cNvSpPr>
          <p:nvPr>
            <p:ph type="ctrTitle"/>
          </p:nvPr>
        </p:nvSpPr>
        <p:spPr>
          <a:xfrm>
            <a:off x="3056351" y="2571751"/>
            <a:ext cx="6087649" cy="16033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Mini-PVA Totalp</a:t>
            </a:r>
            <a:br>
              <a:rPr lang="en" sz="3600" dirty="0"/>
            </a:br>
            <a:r>
              <a:rPr lang="en" sz="2000" dirty="0"/>
              <a:t>Bifacial PV Analysis at a High-Alpine Site</a:t>
            </a:r>
            <a:endParaRPr sz="4400" dirty="0"/>
          </a:p>
        </p:txBody>
      </p:sp>
      <p:sp>
        <p:nvSpPr>
          <p:cNvPr id="440" name="Google Shape;440;p63"/>
          <p:cNvSpPr txBox="1">
            <a:spLocks noGrp="1"/>
          </p:cNvSpPr>
          <p:nvPr>
            <p:ph type="subTitle" idx="1"/>
          </p:nvPr>
        </p:nvSpPr>
        <p:spPr>
          <a:xfrm>
            <a:off x="2354893" y="4709736"/>
            <a:ext cx="6789107" cy="421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 1 | Very Steep Ground Inclinations (HN≥ 20°) | Davos </a:t>
            </a:r>
            <a:r>
              <a:rPr lang="en-GB" dirty="0" err="1"/>
              <a:t>Totalp</a:t>
            </a:r>
            <a:r>
              <a:rPr lang="en-GB" dirty="0"/>
              <a:t>, 2480 m </a:t>
            </a:r>
            <a:r>
              <a:rPr lang="en-GB" dirty="0" err="1"/>
              <a:t>a.s.l</a:t>
            </a:r>
            <a:r>
              <a:rPr lang="en-GB" dirty="0"/>
              <a:t>. </a:t>
            </a:r>
          </a:p>
        </p:txBody>
      </p:sp>
      <p:cxnSp>
        <p:nvCxnSpPr>
          <p:cNvPr id="441" name="Google Shape;441;p63"/>
          <p:cNvCxnSpPr/>
          <p:nvPr/>
        </p:nvCxnSpPr>
        <p:spPr>
          <a:xfrm>
            <a:off x="7790457" y="4442440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/>
          <p:cNvSpPr txBox="1">
            <a:spLocks noGrp="1"/>
          </p:cNvSpPr>
          <p:nvPr>
            <p:ph type="title"/>
          </p:nvPr>
        </p:nvSpPr>
        <p:spPr>
          <a:xfrm>
            <a:off x="3219189" y="1737675"/>
            <a:ext cx="4989411" cy="13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Site &amp; Experiment Setup</a:t>
            </a:r>
            <a:endParaRPr dirty="0"/>
          </a:p>
        </p:txBody>
      </p:sp>
      <p:sp>
        <p:nvSpPr>
          <p:cNvPr id="498" name="Google Shape;498;p68"/>
          <p:cNvSpPr txBox="1">
            <a:spLocks noGrp="1"/>
          </p:cNvSpPr>
          <p:nvPr>
            <p:ph type="title" idx="2"/>
          </p:nvPr>
        </p:nvSpPr>
        <p:spPr>
          <a:xfrm>
            <a:off x="5151175" y="424768"/>
            <a:ext cx="3057300" cy="14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500" name="Google Shape;500;p68"/>
          <p:cNvCxnSpPr/>
          <p:nvPr/>
        </p:nvCxnSpPr>
        <p:spPr>
          <a:xfrm>
            <a:off x="7425248" y="321980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>
            <a:extLst>
              <a:ext uri="{FF2B5EF4-FFF2-40B4-BE49-F238E27FC236}">
                <a16:creationId xmlns:a16="http://schemas.microsoft.com/office/drawing/2014/main" id="{29A75E25-F573-64F0-00C5-4AD2812791CA}"/>
              </a:ext>
            </a:extLst>
          </p:cNvPr>
          <p:cNvSpPr/>
          <p:nvPr/>
        </p:nvSpPr>
        <p:spPr>
          <a:xfrm>
            <a:off x="4742329" y="839972"/>
            <a:ext cx="4171602" cy="39319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60F94F54-FEA8-00FE-125C-61CEC361BAF2}"/>
              </a:ext>
            </a:extLst>
          </p:cNvPr>
          <p:cNvSpPr/>
          <p:nvPr/>
        </p:nvSpPr>
        <p:spPr>
          <a:xfrm>
            <a:off x="230069" y="839972"/>
            <a:ext cx="4171602" cy="39319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54E8896-D48F-9740-3C04-C5F19DB06F4E}"/>
              </a:ext>
            </a:extLst>
          </p:cNvPr>
          <p:cNvSpPr txBox="1"/>
          <p:nvPr/>
        </p:nvSpPr>
        <p:spPr>
          <a:xfrm>
            <a:off x="265351" y="839972"/>
            <a:ext cx="4181599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</a:p>
          <a:p>
            <a:pPr>
              <a:tabLst>
                <a:tab pos="1339850" algn="l"/>
              </a:tabLst>
            </a:pPr>
            <a:endParaRPr lang="en-US" sz="18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r>
              <a:rPr lang="en-US" sz="18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Davos, Switzerland</a:t>
            </a: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r>
              <a:rPr lang="en-US" sz="18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N46.838°, E9.813°</a:t>
            </a: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r>
              <a:rPr lang="en-US" sz="18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Altitude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	2480 m </a:t>
            </a:r>
            <a:r>
              <a:rPr lang="en-US" sz="18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a.s.l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.</a:t>
            </a: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r>
              <a:rPr lang="en-US" sz="18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Period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	Oct 2024 – Mar 2025</a:t>
            </a: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r>
              <a:rPr lang="en-US" sz="18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Files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	180 daily CSV files</a:t>
            </a: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r>
              <a:rPr lang="en-US" sz="18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Total rows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	944’048 measurements</a:t>
            </a:r>
          </a:p>
          <a:p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7" name="Google Shape;506;p69">
            <a:extLst>
              <a:ext uri="{FF2B5EF4-FFF2-40B4-BE49-F238E27FC236}">
                <a16:creationId xmlns:a16="http://schemas.microsoft.com/office/drawing/2014/main" id="{5761D82D-3F15-4EBA-B26F-2484A93EC8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50800"/>
            <a:ext cx="6927850" cy="6810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Site &amp; Experiment Setup</a:t>
            </a:r>
            <a:endParaRPr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CA8CBE6-3E36-6991-4B5F-16CDB86F91F4}"/>
              </a:ext>
            </a:extLst>
          </p:cNvPr>
          <p:cNvSpPr txBox="1"/>
          <p:nvPr/>
        </p:nvSpPr>
        <p:spPr>
          <a:xfrm>
            <a:off x="4795391" y="839972"/>
            <a:ext cx="3760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Parameters</a:t>
            </a:r>
          </a:p>
          <a:p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46FE349-6239-93A9-33BB-63A6C9C447A7}"/>
              </a:ext>
            </a:extLst>
          </p:cNvPr>
          <p:cNvSpPr txBox="1"/>
          <p:nvPr/>
        </p:nvSpPr>
        <p:spPr>
          <a:xfrm>
            <a:off x="5460114" y="1369468"/>
            <a:ext cx="3418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spacing 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– 719 mm</a:t>
            </a:r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950A2B4E-2D81-7B8A-4981-0452E966E838}"/>
              </a:ext>
            </a:extLst>
          </p:cNvPr>
          <p:cNvSpPr/>
          <p:nvPr/>
        </p:nvSpPr>
        <p:spPr>
          <a:xfrm>
            <a:off x="4957194" y="1419572"/>
            <a:ext cx="50292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0E3FA331-8196-13DE-34B1-F6B7B94F2F86}"/>
              </a:ext>
            </a:extLst>
          </p:cNvPr>
          <p:cNvSpPr/>
          <p:nvPr/>
        </p:nvSpPr>
        <p:spPr>
          <a:xfrm>
            <a:off x="4957194" y="14195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40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53BCDC69-66F4-9949-6114-45C4470B00F8}"/>
              </a:ext>
            </a:extLst>
          </p:cNvPr>
          <p:cNvSpPr/>
          <p:nvPr/>
        </p:nvSpPr>
        <p:spPr>
          <a:xfrm>
            <a:off x="4957194" y="3391694"/>
            <a:ext cx="50292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455873CC-5C63-D820-F6BB-F28BCCC71E32}"/>
              </a:ext>
            </a:extLst>
          </p:cNvPr>
          <p:cNvSpPr/>
          <p:nvPr/>
        </p:nvSpPr>
        <p:spPr>
          <a:xfrm>
            <a:off x="4957194" y="33916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4C9A429-6520-4789-8B33-76CFE6219314}"/>
              </a:ext>
            </a:extLst>
          </p:cNvPr>
          <p:cNvSpPr/>
          <p:nvPr/>
        </p:nvSpPr>
        <p:spPr>
          <a:xfrm>
            <a:off x="4957194" y="2405633"/>
            <a:ext cx="50292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31983FD-DE45-CEA9-9A49-786905003F36}"/>
              </a:ext>
            </a:extLst>
          </p:cNvPr>
          <p:cNvSpPr/>
          <p:nvPr/>
        </p:nvSpPr>
        <p:spPr>
          <a:xfrm>
            <a:off x="4957194" y="240563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</a:t>
            </a:r>
            <a:endParaRPr lang="en-US" sz="14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6D2BCE0-CF1B-2790-E8FE-420B64796EFE}"/>
              </a:ext>
            </a:extLst>
          </p:cNvPr>
          <p:cNvSpPr txBox="1"/>
          <p:nvPr/>
        </p:nvSpPr>
        <p:spPr>
          <a:xfrm>
            <a:off x="5460113" y="2333927"/>
            <a:ext cx="341853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tilt (absolute</a:t>
            </a:r>
            <a:r>
              <a:rPr lang="de-CH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r>
              <a:rPr lang="de-CH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90°</a:t>
            </a:r>
            <a:endParaRPr lang="en-US" sz="18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752B99B-5053-8696-B680-67C8FBE6A172}"/>
              </a:ext>
            </a:extLst>
          </p:cNvPr>
          <p:cNvSpPr txBox="1"/>
          <p:nvPr/>
        </p:nvSpPr>
        <p:spPr>
          <a:xfrm>
            <a:off x="5460112" y="3319988"/>
            <a:ext cx="3418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slope 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40 °</a:t>
            </a:r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67DE33A6-9956-0861-2621-F74AECDA7519}"/>
              </a:ext>
            </a:extLst>
          </p:cNvPr>
          <p:cNvSpPr/>
          <p:nvPr/>
        </p:nvSpPr>
        <p:spPr>
          <a:xfrm>
            <a:off x="5090770" y="4216030"/>
            <a:ext cx="3474720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Focus: HN ≥ 20° (very steep ground inclinations)</a:t>
            </a:r>
            <a:endParaRPr lang="en-US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90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1"/>
          <p:cNvSpPr txBox="1">
            <a:spLocks noGrp="1"/>
          </p:cNvSpPr>
          <p:nvPr>
            <p:ph type="title"/>
          </p:nvPr>
        </p:nvSpPr>
        <p:spPr>
          <a:xfrm>
            <a:off x="2324644" y="2117677"/>
            <a:ext cx="4494711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Processing Pipeline </a:t>
            </a:r>
            <a:endParaRPr dirty="0"/>
          </a:p>
        </p:txBody>
      </p:sp>
      <p:sp>
        <p:nvSpPr>
          <p:cNvPr id="625" name="Google Shape;625;p81"/>
          <p:cNvSpPr txBox="1">
            <a:spLocks noGrp="1"/>
          </p:cNvSpPr>
          <p:nvPr>
            <p:ph type="title" idx="2"/>
          </p:nvPr>
        </p:nvSpPr>
        <p:spPr>
          <a:xfrm>
            <a:off x="3043350" y="1032009"/>
            <a:ext cx="30573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627" name="Google Shape;627;p81"/>
          <p:cNvCxnSpPr/>
          <p:nvPr/>
        </p:nvCxnSpPr>
        <p:spPr>
          <a:xfrm>
            <a:off x="4248450" y="320334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B05FC325-CAE0-1A42-1231-DB6684E01792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6926893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Data Processing Pipeline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A771209-3020-4032-B9FA-6328C531D0BA}"/>
              </a:ext>
            </a:extLst>
          </p:cNvPr>
          <p:cNvSpPr/>
          <p:nvPr/>
        </p:nvSpPr>
        <p:spPr>
          <a:xfrm>
            <a:off x="639453" y="757355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D49129F-A873-6C1F-6CF4-7E2C55BD1406}"/>
              </a:ext>
            </a:extLst>
          </p:cNvPr>
          <p:cNvSpPr/>
          <p:nvPr/>
        </p:nvSpPr>
        <p:spPr>
          <a:xfrm>
            <a:off x="639453" y="7573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9A487BB-4DF2-99C4-3205-B0665D62CD1E}"/>
              </a:ext>
            </a:extLst>
          </p:cNvPr>
          <p:cNvSpPr/>
          <p:nvPr/>
        </p:nvSpPr>
        <p:spPr>
          <a:xfrm>
            <a:off x="1279533" y="1013387"/>
            <a:ext cx="594360" cy="109728"/>
          </a:xfrm>
          <a:prstGeom prst="rect">
            <a:avLst/>
          </a:prstGeom>
          <a:solidFill>
            <a:srgbClr val="AFC0D7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7CD7951-7E7D-466F-D555-0AD1D54616CD}"/>
              </a:ext>
            </a:extLst>
          </p:cNvPr>
          <p:cNvSpPr/>
          <p:nvPr/>
        </p:nvSpPr>
        <p:spPr>
          <a:xfrm>
            <a:off x="2376813" y="757355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9BDF75C-93DF-90A1-210A-506FD080AE0E}"/>
              </a:ext>
            </a:extLst>
          </p:cNvPr>
          <p:cNvSpPr/>
          <p:nvPr/>
        </p:nvSpPr>
        <p:spPr>
          <a:xfrm>
            <a:off x="2376813" y="7573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C69E6E42-DAD2-848A-1CB0-044351CDF500}"/>
              </a:ext>
            </a:extLst>
          </p:cNvPr>
          <p:cNvSpPr/>
          <p:nvPr/>
        </p:nvSpPr>
        <p:spPr>
          <a:xfrm>
            <a:off x="3016893" y="1013387"/>
            <a:ext cx="594360" cy="109728"/>
          </a:xfrm>
          <a:prstGeom prst="rect">
            <a:avLst/>
          </a:prstGeom>
          <a:solidFill>
            <a:srgbClr val="AFC0D7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C325F9BC-5E5C-4A53-B543-843FD1E520CE}"/>
              </a:ext>
            </a:extLst>
          </p:cNvPr>
          <p:cNvSpPr/>
          <p:nvPr/>
        </p:nvSpPr>
        <p:spPr>
          <a:xfrm>
            <a:off x="4114173" y="757355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02E46237-CF2D-1ACE-E866-6CFC51C60663}"/>
              </a:ext>
            </a:extLst>
          </p:cNvPr>
          <p:cNvSpPr/>
          <p:nvPr/>
        </p:nvSpPr>
        <p:spPr>
          <a:xfrm>
            <a:off x="4114173" y="7573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CEDDC5F0-743C-ABD1-0C1B-18F05DED7DBA}"/>
              </a:ext>
            </a:extLst>
          </p:cNvPr>
          <p:cNvSpPr/>
          <p:nvPr/>
        </p:nvSpPr>
        <p:spPr>
          <a:xfrm>
            <a:off x="4754253" y="1013387"/>
            <a:ext cx="594360" cy="109728"/>
          </a:xfrm>
          <a:prstGeom prst="rect">
            <a:avLst/>
          </a:prstGeom>
          <a:solidFill>
            <a:srgbClr val="AFC0D7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7CEF17BC-218F-8638-82FC-A77FBDBE4714}"/>
              </a:ext>
            </a:extLst>
          </p:cNvPr>
          <p:cNvSpPr/>
          <p:nvPr/>
        </p:nvSpPr>
        <p:spPr>
          <a:xfrm>
            <a:off x="5851533" y="757355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A6F526DF-E6D8-BB9B-46EA-CA8FF1225959}"/>
              </a:ext>
            </a:extLst>
          </p:cNvPr>
          <p:cNvSpPr/>
          <p:nvPr/>
        </p:nvSpPr>
        <p:spPr>
          <a:xfrm>
            <a:off x="5851533" y="7573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3E5CDDBF-5C34-55C7-4184-4596C321640C}"/>
              </a:ext>
            </a:extLst>
          </p:cNvPr>
          <p:cNvSpPr/>
          <p:nvPr/>
        </p:nvSpPr>
        <p:spPr>
          <a:xfrm>
            <a:off x="6491613" y="1013387"/>
            <a:ext cx="594360" cy="109728"/>
          </a:xfrm>
          <a:prstGeom prst="rect">
            <a:avLst/>
          </a:prstGeom>
          <a:solidFill>
            <a:srgbClr val="AFC0D7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96D366B7-9492-958D-F7F6-678ADF554C8F}"/>
              </a:ext>
            </a:extLst>
          </p:cNvPr>
          <p:cNvSpPr/>
          <p:nvPr/>
        </p:nvSpPr>
        <p:spPr>
          <a:xfrm>
            <a:off x="7588893" y="757355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3E169C8F-6F2E-DA70-3D8F-E1FD46C62587}"/>
              </a:ext>
            </a:extLst>
          </p:cNvPr>
          <p:cNvSpPr/>
          <p:nvPr/>
        </p:nvSpPr>
        <p:spPr>
          <a:xfrm>
            <a:off x="7588893" y="7573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5132048-B783-15C9-6B95-CEB8BF63A6A9}"/>
              </a:ext>
            </a:extLst>
          </p:cNvPr>
          <p:cNvSpPr/>
          <p:nvPr/>
        </p:nvSpPr>
        <p:spPr>
          <a:xfrm>
            <a:off x="273693" y="1556353"/>
            <a:ext cx="1600200" cy="1979327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20195A5F-9997-793D-5E0D-FF1C49CBB397}"/>
              </a:ext>
            </a:extLst>
          </p:cNvPr>
          <p:cNvSpPr/>
          <p:nvPr/>
        </p:nvSpPr>
        <p:spPr>
          <a:xfrm>
            <a:off x="2022796" y="1556353"/>
            <a:ext cx="1600200" cy="1979327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DE0C4A05-4F89-513B-5D28-55EE777A4304}"/>
              </a:ext>
            </a:extLst>
          </p:cNvPr>
          <p:cNvSpPr/>
          <p:nvPr/>
        </p:nvSpPr>
        <p:spPr>
          <a:xfrm>
            <a:off x="3771899" y="1556353"/>
            <a:ext cx="1600200" cy="1979327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3B34FD1-80DC-C3B0-5F0E-CB4C701C737D}"/>
              </a:ext>
            </a:extLst>
          </p:cNvPr>
          <p:cNvSpPr/>
          <p:nvPr/>
        </p:nvSpPr>
        <p:spPr>
          <a:xfrm>
            <a:off x="5521002" y="1556353"/>
            <a:ext cx="1600200" cy="1979327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B12CB1A2-D0D7-7FA4-5789-61AFF874CAC0}"/>
              </a:ext>
            </a:extLst>
          </p:cNvPr>
          <p:cNvSpPr/>
          <p:nvPr/>
        </p:nvSpPr>
        <p:spPr>
          <a:xfrm>
            <a:off x="7270107" y="1556353"/>
            <a:ext cx="1600200" cy="1979327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922534E-40CC-0B25-7BAF-23B7A651BADB}"/>
              </a:ext>
            </a:extLst>
          </p:cNvPr>
          <p:cNvSpPr txBox="1"/>
          <p:nvPr/>
        </p:nvSpPr>
        <p:spPr>
          <a:xfrm>
            <a:off x="273693" y="1678273"/>
            <a:ext cx="1600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&amp; Combine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1661B39-8E4D-CE14-E039-D18CE5B1815B}"/>
              </a:ext>
            </a:extLst>
          </p:cNvPr>
          <p:cNvSpPr txBox="1"/>
          <p:nvPr/>
        </p:nvSpPr>
        <p:spPr>
          <a:xfrm>
            <a:off x="2022797" y="1678273"/>
            <a:ext cx="1600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&amp; Validate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9EF92D4-91B1-E8A0-253C-EA7A3B38473C}"/>
              </a:ext>
            </a:extLst>
          </p:cNvPr>
          <p:cNvSpPr txBox="1"/>
          <p:nvPr/>
        </p:nvSpPr>
        <p:spPr>
          <a:xfrm>
            <a:off x="3771897" y="1678273"/>
            <a:ext cx="1600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STC Normalise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89A96E3-B498-4931-017D-17ADF8AA8E29}"/>
              </a:ext>
            </a:extLst>
          </p:cNvPr>
          <p:cNvSpPr txBox="1"/>
          <p:nvPr/>
        </p:nvSpPr>
        <p:spPr>
          <a:xfrm>
            <a:off x="5521005" y="1678273"/>
            <a:ext cx="16001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Day-wise Interpolation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806CA74-1D04-CAA6-7D1E-A9C753D1F88D}"/>
              </a:ext>
            </a:extLst>
          </p:cNvPr>
          <p:cNvSpPr txBox="1"/>
          <p:nvPr/>
        </p:nvSpPr>
        <p:spPr>
          <a:xfrm>
            <a:off x="7270105" y="1678273"/>
            <a:ext cx="1600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 Position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74E9C54-2C9F-C647-55CD-5399D0BE111B}"/>
              </a:ext>
            </a:extLst>
          </p:cNvPr>
          <p:cNvSpPr txBox="1"/>
          <p:nvPr/>
        </p:nvSpPr>
        <p:spPr>
          <a:xfrm>
            <a:off x="273693" y="2085839"/>
            <a:ext cx="16001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180 daily CSV files concatenated 944’048 rows total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09C9470-0C01-F855-129B-93AD8DA76EC9}"/>
              </a:ext>
            </a:extLst>
          </p:cNvPr>
          <p:cNvSpPr txBox="1"/>
          <p:nvPr/>
        </p:nvSpPr>
        <p:spPr>
          <a:xfrm>
            <a:off x="2022797" y="2085839"/>
            <a:ext cx="16001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DST handling, MN overflow fix, remove night positions (MN=0)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C734AD2-F79E-2D2D-202C-B8797C9FF488}"/>
              </a:ext>
            </a:extLst>
          </p:cNvPr>
          <p:cNvSpPr txBox="1"/>
          <p:nvPr/>
        </p:nvSpPr>
        <p:spPr>
          <a:xfrm>
            <a:off x="3748416" y="2085839"/>
            <a:ext cx="16001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Pnominal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Pmpp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P_STC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Comparable across channels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5048088-5BA9-5F81-8BD0-7FBDD2F139FF}"/>
              </a:ext>
            </a:extLst>
          </p:cNvPr>
          <p:cNvSpPr txBox="1"/>
          <p:nvPr/>
        </p:nvSpPr>
        <p:spPr>
          <a:xfrm>
            <a:off x="5521005" y="2204439"/>
            <a:ext cx="160019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Env. data onto Mini-PV timestamps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overnight bridging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DB68DA4A-125C-5929-86C7-256D9108DD3A}"/>
              </a:ext>
            </a:extLst>
          </p:cNvPr>
          <p:cNvSpPr txBox="1"/>
          <p:nvPr/>
        </p:nvSpPr>
        <p:spPr>
          <a:xfrm>
            <a:off x="7270104" y="2085839"/>
            <a:ext cx="16001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Pvlib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calculation per timestamp </a:t>
            </a:r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sun_up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filter for yield integration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E43A22C-9E00-5023-9F5F-F8A295CEDD3C}"/>
              </a:ext>
            </a:extLst>
          </p:cNvPr>
          <p:cNvSpPr txBox="1"/>
          <p:nvPr/>
        </p:nvSpPr>
        <p:spPr>
          <a:xfrm>
            <a:off x="273693" y="3693147"/>
            <a:ext cx="2713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Data Cleaning Issues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8" name="Tabelle 37">
            <a:extLst>
              <a:ext uri="{FF2B5EF4-FFF2-40B4-BE49-F238E27FC236}">
                <a16:creationId xmlns:a16="http://schemas.microsoft.com/office/drawing/2014/main" id="{1ECE62F1-D3D8-0861-CBEE-07C048AC0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006209"/>
              </p:ext>
            </p:extLst>
          </p:nvPr>
        </p:nvGraphicFramePr>
        <p:xfrm>
          <a:off x="2376813" y="3731375"/>
          <a:ext cx="6493488" cy="1219200"/>
        </p:xfrm>
        <a:graphic>
          <a:graphicData uri="http://schemas.openxmlformats.org/drawingml/2006/table">
            <a:tbl>
              <a:tblPr firstRow="1" bandRow="1">
                <a:tableStyleId>{400D364A-E991-4585-8789-2BDE97CED70E}</a:tableStyleId>
              </a:tblPr>
              <a:tblGrid>
                <a:gridCol w="3246744">
                  <a:extLst>
                    <a:ext uri="{9D8B030D-6E8A-4147-A177-3AD203B41FA5}">
                      <a16:colId xmlns:a16="http://schemas.microsoft.com/office/drawing/2014/main" val="810575804"/>
                    </a:ext>
                  </a:extLst>
                </a:gridCol>
                <a:gridCol w="3246744">
                  <a:extLst>
                    <a:ext uri="{9D8B030D-6E8A-4147-A177-3AD203B41FA5}">
                      <a16:colId xmlns:a16="http://schemas.microsoft.com/office/drawing/2014/main" val="1413262661"/>
                    </a:ext>
                  </a:extLst>
                </a:gridCol>
              </a:tblGrid>
              <a:tr h="158559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  <a:endParaRPr lang="de-CH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AFC0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Solution</a:t>
                      </a:r>
                      <a:endParaRPr lang="de-CH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AFC0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885595"/>
                  </a:ext>
                </a:extLst>
              </a:tr>
              <a:tr h="298144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 &gt; 1000 (uint16 overflow)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Subtract 65536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565189"/>
                  </a:ext>
                </a:extLst>
              </a:tr>
              <a:tr h="298144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 rows ambiguous timestamp (DST)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Ambiguous = ‘</a:t>
                      </a:r>
                      <a:r>
                        <a:rPr lang="en-GB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</a:t>
                      </a: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’ </a:t>
                      </a: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drop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475172"/>
                  </a:ext>
                </a:extLst>
              </a:tr>
              <a:tr h="298144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 = 0 </a:t>
                      </a: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7936 rows (night pos.)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Drop (</a:t>
                      </a:r>
                      <a:r>
                        <a:rPr lang="en-GB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Pmpp</a:t>
                      </a: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CH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≈ 0)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78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33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>
          <a:extLst>
            <a:ext uri="{FF2B5EF4-FFF2-40B4-BE49-F238E27FC236}">
              <a16:creationId xmlns:a16="http://schemas.microsoft.com/office/drawing/2014/main" id="{D72F0AD3-EF6C-093F-F006-A1D4FC34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>
            <a:extLst>
              <a:ext uri="{FF2B5EF4-FFF2-40B4-BE49-F238E27FC236}">
                <a16:creationId xmlns:a16="http://schemas.microsoft.com/office/drawing/2014/main" id="{27CD8364-8354-F9A0-7E0C-AF8C91C607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9189" y="1737675"/>
            <a:ext cx="4989411" cy="13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Measurement Overview</a:t>
            </a:r>
            <a:endParaRPr dirty="0"/>
          </a:p>
        </p:txBody>
      </p:sp>
      <p:sp>
        <p:nvSpPr>
          <p:cNvPr id="498" name="Google Shape;498;p68">
            <a:extLst>
              <a:ext uri="{FF2B5EF4-FFF2-40B4-BE49-F238E27FC236}">
                <a16:creationId xmlns:a16="http://schemas.microsoft.com/office/drawing/2014/main" id="{9952F850-8030-3DF5-5BF3-F1E2371FD7F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151175" y="424768"/>
            <a:ext cx="3057300" cy="14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500" name="Google Shape;500;p68">
            <a:extLst>
              <a:ext uri="{FF2B5EF4-FFF2-40B4-BE49-F238E27FC236}">
                <a16:creationId xmlns:a16="http://schemas.microsoft.com/office/drawing/2014/main" id="{C659FCF1-FEBC-32E3-684A-CF36D5E96394}"/>
              </a:ext>
            </a:extLst>
          </p:cNvPr>
          <p:cNvCxnSpPr/>
          <p:nvPr/>
        </p:nvCxnSpPr>
        <p:spPr>
          <a:xfrm>
            <a:off x="7425248" y="321980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316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83E2-F50D-71DE-5429-BB586F85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E4FF2FA4-E58F-B26A-E591-CD9407015707}"/>
              </a:ext>
            </a:extLst>
          </p:cNvPr>
          <p:cNvSpPr txBox="1">
            <a:spLocks/>
          </p:cNvSpPr>
          <p:nvPr/>
        </p:nvSpPr>
        <p:spPr>
          <a:xfrm>
            <a:off x="100208" y="272204"/>
            <a:ext cx="6926893" cy="5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Measurement </a:t>
            </a:r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B1D006FD-8BB1-909F-D081-1A60A0C3DF8A}"/>
              </a:ext>
            </a:extLst>
          </p:cNvPr>
          <p:cNvSpPr/>
          <p:nvPr/>
        </p:nvSpPr>
        <p:spPr>
          <a:xfrm>
            <a:off x="361449" y="4055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– Daily yield per channel over the full winter period. Seasonal low around December solstice, recovery toward March.</a:t>
            </a:r>
            <a:endParaRPr lang="en-US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9775EECC-FB46-7B92-B5C1-5BCD8D640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" y="960188"/>
            <a:ext cx="8934962" cy="275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3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A82A-4B09-28E8-B9BC-2361C189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A517C36D-32D0-297D-1A5D-1113868BB497}"/>
              </a:ext>
            </a:extLst>
          </p:cNvPr>
          <p:cNvSpPr txBox="1">
            <a:spLocks/>
          </p:cNvSpPr>
          <p:nvPr/>
        </p:nvSpPr>
        <p:spPr>
          <a:xfrm>
            <a:off x="190983" y="195188"/>
            <a:ext cx="6926893" cy="5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Measurement </a:t>
            </a:r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A09B3953-8C33-C53C-CA10-DE92EDE3FCFF}"/>
              </a:ext>
            </a:extLst>
          </p:cNvPr>
          <p:cNvSpPr/>
          <p:nvPr/>
        </p:nvSpPr>
        <p:spPr>
          <a:xfrm>
            <a:off x="743095" y="4540551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– Normalised power + GHI over 5 sample days (MN=60°, RA=358 mm). Power closely follows GHI on clear days.</a:t>
            </a:r>
            <a:endParaRPr lang="en-US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1B02E5-2FD9-10F3-DB74-0C40C5233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68" y="713255"/>
            <a:ext cx="8559849" cy="371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76FC62A1-1807-17D8-6855-FAE9AB9D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1">
            <a:extLst>
              <a:ext uri="{FF2B5EF4-FFF2-40B4-BE49-F238E27FC236}">
                <a16:creationId xmlns:a16="http://schemas.microsoft.com/office/drawing/2014/main" id="{2144C49C-6051-3C10-94F3-9101D8DCF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4644" y="2117677"/>
            <a:ext cx="4494711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Performance Map</a:t>
            </a:r>
            <a:endParaRPr dirty="0"/>
          </a:p>
        </p:txBody>
      </p:sp>
      <p:sp>
        <p:nvSpPr>
          <p:cNvPr id="625" name="Google Shape;625;p81">
            <a:extLst>
              <a:ext uri="{FF2B5EF4-FFF2-40B4-BE49-F238E27FC236}">
                <a16:creationId xmlns:a16="http://schemas.microsoft.com/office/drawing/2014/main" id="{77BB981F-A14F-0976-BE77-7B30041B8A4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43350" y="1032009"/>
            <a:ext cx="30573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627" name="Google Shape;627;p81">
            <a:extLst>
              <a:ext uri="{FF2B5EF4-FFF2-40B4-BE49-F238E27FC236}">
                <a16:creationId xmlns:a16="http://schemas.microsoft.com/office/drawing/2014/main" id="{6EEF9B51-324D-6C35-B530-31AB669C1D7A}"/>
              </a:ext>
            </a:extLst>
          </p:cNvPr>
          <p:cNvCxnSpPr/>
          <p:nvPr/>
        </p:nvCxnSpPr>
        <p:spPr>
          <a:xfrm>
            <a:off x="4248450" y="320334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9779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6BEB01ED-2A75-E8A6-A656-24AC6CB67BD2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82208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Performance </a:t>
            </a:r>
            <a:r>
              <a:rPr lang="de-CH" dirty="0" err="1"/>
              <a:t>Map</a:t>
            </a:r>
            <a:r>
              <a:rPr lang="de-CH" dirty="0"/>
              <a:t> – Group Focus HN ≥ 20°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1002555-E902-817A-94C3-8113A1D13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929072"/>
              </p:ext>
            </p:extLst>
          </p:nvPr>
        </p:nvGraphicFramePr>
        <p:xfrm>
          <a:off x="214500" y="875030"/>
          <a:ext cx="8716140" cy="2350770"/>
        </p:xfrm>
        <a:graphic>
          <a:graphicData uri="http://schemas.openxmlformats.org/drawingml/2006/table">
            <a:tbl>
              <a:tblPr firstRow="1" bandRow="1">
                <a:tableStyleId>{400D364A-E991-4585-8789-2BDE97CED70E}</a:tableStyleId>
              </a:tblPr>
              <a:tblGrid>
                <a:gridCol w="992932">
                  <a:extLst>
                    <a:ext uri="{9D8B030D-6E8A-4147-A177-3AD203B41FA5}">
                      <a16:colId xmlns:a16="http://schemas.microsoft.com/office/drawing/2014/main" val="3446120081"/>
                    </a:ext>
                  </a:extLst>
                </a:gridCol>
                <a:gridCol w="1177598">
                  <a:extLst>
                    <a:ext uri="{9D8B030D-6E8A-4147-A177-3AD203B41FA5}">
                      <a16:colId xmlns:a16="http://schemas.microsoft.com/office/drawing/2014/main" val="3018321309"/>
                    </a:ext>
                  </a:extLst>
                </a:gridCol>
                <a:gridCol w="1284652">
                  <a:extLst>
                    <a:ext uri="{9D8B030D-6E8A-4147-A177-3AD203B41FA5}">
                      <a16:colId xmlns:a16="http://schemas.microsoft.com/office/drawing/2014/main" val="4255786832"/>
                    </a:ext>
                  </a:extLst>
                </a:gridCol>
                <a:gridCol w="2156381">
                  <a:extLst>
                    <a:ext uri="{9D8B030D-6E8A-4147-A177-3AD203B41FA5}">
                      <a16:colId xmlns:a16="http://schemas.microsoft.com/office/drawing/2014/main" val="1002381445"/>
                    </a:ext>
                  </a:extLst>
                </a:gridCol>
                <a:gridCol w="1957566">
                  <a:extLst>
                    <a:ext uri="{9D8B030D-6E8A-4147-A177-3AD203B41FA5}">
                      <a16:colId xmlns:a16="http://schemas.microsoft.com/office/drawing/2014/main" val="1407145576"/>
                    </a:ext>
                  </a:extLst>
                </a:gridCol>
                <a:gridCol w="1147011">
                  <a:extLst>
                    <a:ext uri="{9D8B030D-6E8A-4147-A177-3AD203B41FA5}">
                      <a16:colId xmlns:a16="http://schemas.microsoft.com/office/drawing/2014/main" val="680352603"/>
                    </a:ext>
                  </a:extLst>
                </a:gridCol>
              </a:tblGrid>
              <a:tr h="496570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HN [°]</a:t>
                      </a:r>
                      <a:endParaRPr lang="de-CH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 [°]</a:t>
                      </a:r>
                      <a:endParaRPr lang="de-CH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 [mm]</a:t>
                      </a:r>
                      <a:endParaRPr lang="de-CH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yield [</a:t>
                      </a:r>
                      <a:r>
                        <a:rPr lang="en-GB" sz="16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</a:t>
                      </a: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GB" sz="16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Wp</a:t>
                      </a: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]</a:t>
                      </a:r>
                      <a:endParaRPr lang="de-CH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Yield/day [</a:t>
                      </a:r>
                      <a:r>
                        <a:rPr lang="en-GB" sz="16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</a:t>
                      </a: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GB" sz="16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Wp</a:t>
                      </a: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]</a:t>
                      </a:r>
                      <a:endParaRPr lang="de-CH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Days</a:t>
                      </a:r>
                      <a:endParaRPr lang="de-CH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275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115 – 205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478 – 498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4.47 – 4.65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107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4796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115 – 205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471 – 485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4.40 – 4.53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107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4015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115 – 137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480 – 504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4.94 – 4.71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107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84491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60°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115 – 137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476 – 481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4.45 – 4.49 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107</a:t>
                      </a:r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0446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40°</a:t>
                      </a:r>
                      <a:endParaRPr lang="de-CH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de-CH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de-CH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Insufficient data (&lt;5 days)</a:t>
                      </a:r>
                      <a:endParaRPr lang="de-CH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CH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405742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7430BA80-B16F-18BB-A241-B11CEA0076DC}"/>
              </a:ext>
            </a:extLst>
          </p:cNvPr>
          <p:cNvSpPr txBox="1"/>
          <p:nvPr/>
        </p:nvSpPr>
        <p:spPr>
          <a:xfrm>
            <a:off x="214500" y="3455094"/>
            <a:ext cx="8716140" cy="1477328"/>
          </a:xfrm>
          <a:prstGeom prst="rect">
            <a:avLst/>
          </a:prstGeom>
          <a:solidFill>
            <a:srgbClr val="AFC0D7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 </a:t>
            </a:r>
          </a:p>
          <a:p>
            <a:pPr>
              <a:spcAft>
                <a:spcPts val="600"/>
              </a:spcAft>
            </a:pPr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steep ground slopes, flatter module tilts produce more yield.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HN=20°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MN=40° optimal | HN=30°  MN=30° optimal. </a:t>
            </a:r>
          </a:p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Reason: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 ground slope already contributes effective tilt. Higher MN overcorrects and reduces irradiance capture.</a:t>
            </a:r>
            <a:endParaRPr lang="de-CH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791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3DA0-3980-0141-0D1D-78C17B4D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8DA1BBF8-DF4F-F553-BA41-4CFEAD15CA4D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82208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Performance </a:t>
            </a:r>
            <a:r>
              <a:rPr lang="de-CH" dirty="0" err="1"/>
              <a:t>Map</a:t>
            </a:r>
            <a:r>
              <a:rPr lang="de-CH" dirty="0"/>
              <a:t> – Group Focus HN ≥ 20°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87F93A-1AE6-46C2-84B0-75B1809D81C4}"/>
              </a:ext>
            </a:extLst>
          </p:cNvPr>
          <p:cNvSpPr/>
          <p:nvPr/>
        </p:nvSpPr>
        <p:spPr>
          <a:xfrm>
            <a:off x="214821" y="4476528"/>
            <a:ext cx="6481593" cy="27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3 – Heatmap RA × MN per HN. Values = total bifacial yield [</a:t>
            </a:r>
            <a:r>
              <a:rPr lang="en-US" sz="1000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/Wp], full period.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2D8B07B-F79F-1E60-47B0-550F1B97F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" y="790160"/>
            <a:ext cx="7991605" cy="356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0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593E-C6D6-79AA-0288-37B0C2C6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92A3F50C-5AB0-D29B-3860-987790C926C1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82208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Performance </a:t>
            </a:r>
            <a:r>
              <a:rPr lang="de-CH" dirty="0" err="1"/>
              <a:t>Map</a:t>
            </a:r>
            <a:r>
              <a:rPr lang="de-CH" dirty="0"/>
              <a:t> – Group Focus HN ≥ 20°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BF14936-C90E-2409-776C-32BFDD0E1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278"/>
            <a:ext cx="9144000" cy="2848508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C0D15ED4-05B7-B9AF-2394-0CFD1FD620B9}"/>
              </a:ext>
            </a:extLst>
          </p:cNvPr>
          <p:cNvSpPr/>
          <p:nvPr/>
        </p:nvSpPr>
        <p:spPr>
          <a:xfrm>
            <a:off x="0" y="4088222"/>
            <a:ext cx="6481593" cy="27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4 – Yield vs MN: flatter = better at steep HN.</a:t>
            </a:r>
          </a:p>
        </p:txBody>
      </p:sp>
    </p:spTree>
    <p:extLst>
      <p:ext uri="{BB962C8B-B14F-4D97-AF65-F5344CB8AC3E}">
        <p14:creationId xmlns:p14="http://schemas.microsoft.com/office/powerpoint/2010/main" val="197048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>
          <a:extLst>
            <a:ext uri="{FF2B5EF4-FFF2-40B4-BE49-F238E27FC236}">
              <a16:creationId xmlns:a16="http://schemas.microsoft.com/office/drawing/2014/main" id="{C853B0D8-C93D-67E2-DE54-961CBF4F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>
            <a:extLst>
              <a:ext uri="{FF2B5EF4-FFF2-40B4-BE49-F238E27FC236}">
                <a16:creationId xmlns:a16="http://schemas.microsoft.com/office/drawing/2014/main" id="{C28AEC7F-DB56-71BC-DB13-48C3ABA7B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9189" y="1737675"/>
            <a:ext cx="4989411" cy="13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Row Spacing &amp; B</a:t>
            </a:r>
            <a:r>
              <a:rPr lang="de-CH" dirty="0"/>
              <a:t>i</a:t>
            </a:r>
            <a:r>
              <a:rPr lang="en" dirty="0"/>
              <a:t>facial Yield</a:t>
            </a:r>
            <a:endParaRPr dirty="0"/>
          </a:p>
        </p:txBody>
      </p:sp>
      <p:sp>
        <p:nvSpPr>
          <p:cNvPr id="498" name="Google Shape;498;p68">
            <a:extLst>
              <a:ext uri="{FF2B5EF4-FFF2-40B4-BE49-F238E27FC236}">
                <a16:creationId xmlns:a16="http://schemas.microsoft.com/office/drawing/2014/main" id="{4E9E335C-D390-0BC2-DDA9-A4999305D74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151175" y="424768"/>
            <a:ext cx="3057300" cy="14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500" name="Google Shape;500;p68">
            <a:extLst>
              <a:ext uri="{FF2B5EF4-FFF2-40B4-BE49-F238E27FC236}">
                <a16:creationId xmlns:a16="http://schemas.microsoft.com/office/drawing/2014/main" id="{59C42D42-C050-5F85-76BA-3303D1A55324}"/>
              </a:ext>
            </a:extLst>
          </p:cNvPr>
          <p:cNvCxnSpPr/>
          <p:nvPr/>
        </p:nvCxnSpPr>
        <p:spPr>
          <a:xfrm>
            <a:off x="7425248" y="321980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8998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3BD638C3-76E8-1A55-8E6B-460298898B1A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73826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 err="1"/>
              <a:t>Row</a:t>
            </a:r>
            <a:r>
              <a:rPr lang="de-CH" dirty="0"/>
              <a:t> </a:t>
            </a:r>
            <a:r>
              <a:rPr lang="de-CH" dirty="0" err="1"/>
              <a:t>Spacing</a:t>
            </a:r>
            <a:r>
              <a:rPr lang="de-CH" dirty="0"/>
              <a:t> &amp; </a:t>
            </a:r>
            <a:r>
              <a:rPr lang="de-CH" dirty="0" err="1"/>
              <a:t>Bifacial</a:t>
            </a:r>
            <a:r>
              <a:rPr lang="de-CH" dirty="0"/>
              <a:t> </a:t>
            </a:r>
            <a:r>
              <a:rPr lang="de-CH" dirty="0" err="1"/>
              <a:t>Yield</a:t>
            </a:r>
            <a:endParaRPr lang="de-CH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25AB1F1-C3F1-3F85-CFD6-118A5D7DC6E2}"/>
              </a:ext>
            </a:extLst>
          </p:cNvPr>
          <p:cNvSpPr/>
          <p:nvPr/>
        </p:nvSpPr>
        <p:spPr>
          <a:xfrm>
            <a:off x="230069" y="839972"/>
            <a:ext cx="8648580" cy="376960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FB89EDD-E9ED-785F-7B6F-CA8BC85A8882}"/>
              </a:ext>
            </a:extLst>
          </p:cNvPr>
          <p:cNvSpPr txBox="1"/>
          <p:nvPr/>
        </p:nvSpPr>
        <p:spPr>
          <a:xfrm>
            <a:off x="265351" y="839972"/>
            <a:ext cx="864858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Bifacial Yield Formula</a:t>
            </a:r>
          </a:p>
          <a:p>
            <a:pPr>
              <a:tabLst>
                <a:tab pos="1339850" algn="l"/>
              </a:tabLst>
            </a:pPr>
            <a:endParaRPr lang="en-US" sz="18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tabLst>
                <a:tab pos="1528763" algn="l"/>
              </a:tabLst>
            </a:pPr>
            <a:endParaRPr lang="en-US" sz="1800" u="sng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tabLst>
                <a:tab pos="1528763" algn="l"/>
              </a:tabLst>
            </a:pPr>
            <a:endParaRPr lang="en-US" sz="1600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  <a:tabLst>
                <a:tab pos="1528763" algn="l"/>
              </a:tabLst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at integral level? </a:t>
            </a:r>
          </a:p>
          <a:p>
            <a:pPr>
              <a:spcAft>
                <a:spcPts val="600"/>
              </a:spcAft>
            </a:pP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 and back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sides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measured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sequentially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(~1s apart).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integral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avoids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timing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mismatch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de-CH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Back-</a:t>
            </a:r>
            <a:r>
              <a:rPr lang="de-CH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de-CH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contribution</a:t>
            </a:r>
            <a:r>
              <a:rPr lang="de-CH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25-35%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</a:t>
            </a:r>
          </a:p>
          <a:p>
            <a:pPr>
              <a:spcAft>
                <a:spcPts val="600"/>
              </a:spcAft>
            </a:pP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Amplified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 alpine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snow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albedo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more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reflected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radiation</a:t>
            </a:r>
            <a:r>
              <a:rPr lang="de-CH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on back </a:t>
            </a:r>
            <a:r>
              <a:rPr lang="de-CH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side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FE8E177-A9AB-70A8-E109-9DEF2E83ACE5}"/>
              </a:ext>
            </a:extLst>
          </p:cNvPr>
          <p:cNvSpPr/>
          <p:nvPr/>
        </p:nvSpPr>
        <p:spPr>
          <a:xfrm>
            <a:off x="265351" y="1399948"/>
            <a:ext cx="3971369" cy="59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Y_bif = Y_front + 0.9 × Y_back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023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9FCB-1260-F491-3628-EE11CCE3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E24137B9-E000-093E-80BD-06212E4693A1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73826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 err="1"/>
              <a:t>Row</a:t>
            </a:r>
            <a:r>
              <a:rPr lang="de-CH" dirty="0"/>
              <a:t> </a:t>
            </a:r>
            <a:r>
              <a:rPr lang="de-CH" dirty="0" err="1"/>
              <a:t>Spacing</a:t>
            </a:r>
            <a:r>
              <a:rPr lang="de-CH" dirty="0"/>
              <a:t> &amp; </a:t>
            </a:r>
            <a:r>
              <a:rPr lang="de-CH" dirty="0" err="1"/>
              <a:t>Bifacial</a:t>
            </a:r>
            <a:r>
              <a:rPr lang="de-CH" dirty="0"/>
              <a:t> </a:t>
            </a:r>
            <a:r>
              <a:rPr lang="de-CH" dirty="0" err="1"/>
              <a:t>YIeld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CEC2FB-524D-18D2-BB4E-D635E49F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7870"/>
            <a:ext cx="9144000" cy="2846717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CA3D42C-E64D-7C66-A5A1-B94B7330A74B}"/>
              </a:ext>
            </a:extLst>
          </p:cNvPr>
          <p:cNvSpPr/>
          <p:nvPr/>
        </p:nvSpPr>
        <p:spPr>
          <a:xfrm>
            <a:off x="100208" y="39099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– Yield vs RA: larger spacing → more yield (less inter-row shading).</a:t>
            </a:r>
            <a:endParaRPr lang="en-US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81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6789-519F-967B-1A01-8B16739B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7463384E-416E-30CE-42FD-AE03902DD666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73826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 err="1"/>
              <a:t>Row</a:t>
            </a:r>
            <a:r>
              <a:rPr lang="de-CH" dirty="0"/>
              <a:t> </a:t>
            </a:r>
            <a:r>
              <a:rPr lang="de-CH" dirty="0" err="1"/>
              <a:t>Spacing</a:t>
            </a:r>
            <a:r>
              <a:rPr lang="de-CH" dirty="0"/>
              <a:t> &amp; </a:t>
            </a:r>
            <a:r>
              <a:rPr lang="de-CH" dirty="0" err="1"/>
              <a:t>Bifacial</a:t>
            </a:r>
            <a:r>
              <a:rPr lang="de-CH" dirty="0"/>
              <a:t> </a:t>
            </a:r>
            <a:r>
              <a:rPr lang="de-CH" dirty="0" err="1"/>
              <a:t>YIeld</a:t>
            </a:r>
            <a:endParaRPr lang="de-CH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34D5CC66-4C40-598D-A17F-29A0C3D34E18}"/>
              </a:ext>
            </a:extLst>
          </p:cNvPr>
          <p:cNvSpPr/>
          <p:nvPr/>
        </p:nvSpPr>
        <p:spPr>
          <a:xfrm>
            <a:off x="100208" y="3849848"/>
            <a:ext cx="6782218" cy="329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– Daily bifacial yield: best config per HN. HN=30°, MN=30° slightly outperforms HN=20°, MN=40°.</a:t>
            </a:r>
            <a:endParaRPr lang="en-US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6CC64FE-B297-07C7-CEE9-DDF2B710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343"/>
            <a:ext cx="9144000" cy="281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88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89B64-BFEF-A6FC-3356-34AEEBAC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8A706ECF-923C-E970-1995-AC64E89CDB5D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82208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 err="1"/>
              <a:t>Row</a:t>
            </a:r>
            <a:r>
              <a:rPr lang="de-CH" dirty="0"/>
              <a:t> </a:t>
            </a:r>
            <a:r>
              <a:rPr lang="de-CH" dirty="0" err="1"/>
              <a:t>Spacing</a:t>
            </a:r>
            <a:r>
              <a:rPr lang="de-CH" dirty="0"/>
              <a:t> &amp; </a:t>
            </a:r>
            <a:r>
              <a:rPr lang="de-CH" dirty="0" err="1"/>
              <a:t>Bifacial</a:t>
            </a:r>
            <a:r>
              <a:rPr lang="de-CH" dirty="0"/>
              <a:t> </a:t>
            </a:r>
            <a:r>
              <a:rPr lang="de-CH" dirty="0" err="1"/>
              <a:t>Yield</a:t>
            </a:r>
            <a:endParaRPr lang="de-CH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2D0402-DC11-B2C7-5E4E-61B5910E3748}"/>
              </a:ext>
            </a:extLst>
          </p:cNvPr>
          <p:cNvSpPr/>
          <p:nvPr/>
        </p:nvSpPr>
        <p:spPr>
          <a:xfrm>
            <a:off x="100208" y="4203139"/>
            <a:ext cx="8655485" cy="207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7 – Daily yield distribution vs MN. Front-side (Ch 18) median ~4.5 </a:t>
            </a:r>
            <a:r>
              <a:rPr lang="en-US" sz="1000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/Wp across most MN values; back-side (Ch 22) ~1 </a:t>
            </a:r>
            <a:r>
              <a:rPr lang="en-US" sz="1000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/Wp. MN=45° shows sparse data (too few days).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2C615BC-0163-C450-F65D-ECD93E1B2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549"/>
            <a:ext cx="9144000" cy="325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06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B3040F40-1360-04F2-446C-0D52FA77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1">
            <a:extLst>
              <a:ext uri="{FF2B5EF4-FFF2-40B4-BE49-F238E27FC236}">
                <a16:creationId xmlns:a16="http://schemas.microsoft.com/office/drawing/2014/main" id="{8C49EE0B-E68E-3CEE-2EF8-AECFBDDB4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4644" y="2117677"/>
            <a:ext cx="4494711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Solar Position</a:t>
            </a:r>
            <a:endParaRPr dirty="0"/>
          </a:p>
        </p:txBody>
      </p:sp>
      <p:sp>
        <p:nvSpPr>
          <p:cNvPr id="625" name="Google Shape;625;p81">
            <a:extLst>
              <a:ext uri="{FF2B5EF4-FFF2-40B4-BE49-F238E27FC236}">
                <a16:creationId xmlns:a16="http://schemas.microsoft.com/office/drawing/2014/main" id="{0D1FC6FF-D0F1-1DC0-C50C-D84992BA8F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43350" y="1032009"/>
            <a:ext cx="30573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627" name="Google Shape;627;p81">
            <a:extLst>
              <a:ext uri="{FF2B5EF4-FFF2-40B4-BE49-F238E27FC236}">
                <a16:creationId xmlns:a16="http://schemas.microsoft.com/office/drawing/2014/main" id="{4542EE52-B92D-D7A8-4371-650DD5903DEF}"/>
              </a:ext>
            </a:extLst>
          </p:cNvPr>
          <p:cNvCxnSpPr/>
          <p:nvPr/>
        </p:nvCxnSpPr>
        <p:spPr>
          <a:xfrm>
            <a:off x="4248450" y="320334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11647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8D916-E864-0365-1363-0D771302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6;p69">
            <a:extLst>
              <a:ext uri="{FF2B5EF4-FFF2-40B4-BE49-F238E27FC236}">
                <a16:creationId xmlns:a16="http://schemas.microsoft.com/office/drawing/2014/main" id="{C72494CB-125A-CF75-6C07-B6076AD6BBF7}"/>
              </a:ext>
            </a:extLst>
          </p:cNvPr>
          <p:cNvSpPr txBox="1">
            <a:spLocks/>
          </p:cNvSpPr>
          <p:nvPr/>
        </p:nvSpPr>
        <p:spPr>
          <a:xfrm>
            <a:off x="100208" y="50156"/>
            <a:ext cx="8220832" cy="68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de-CH" dirty="0"/>
              <a:t>Solar Position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A965ACE-99A9-EFF3-BB94-5F3F1D991418}"/>
              </a:ext>
            </a:extLst>
          </p:cNvPr>
          <p:cNvSpPr/>
          <p:nvPr/>
        </p:nvSpPr>
        <p:spPr>
          <a:xfrm>
            <a:off x="770350" y="3962172"/>
            <a:ext cx="4359058" cy="20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8 – Solar position 15 Nov. Max. elevation only ~20° → motivates flatter MN.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BA9F569-0430-33B3-C862-66BCC2B28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50" y="732549"/>
            <a:ext cx="7603299" cy="322962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DF3DF73-88DA-C2CE-08CF-36E8702F0456}"/>
              </a:ext>
            </a:extLst>
          </p:cNvPr>
          <p:cNvSpPr txBox="1"/>
          <p:nvPr/>
        </p:nvSpPr>
        <p:spPr>
          <a:xfrm>
            <a:off x="213930" y="4275233"/>
            <a:ext cx="8716140" cy="738664"/>
          </a:xfrm>
          <a:prstGeom prst="rect">
            <a:avLst/>
          </a:prstGeom>
          <a:solidFill>
            <a:srgbClr val="AFC0D7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this alpine site in November, maximum solar elevation is only ~20°. A steep MN (e.g. 70-90°) would therefore intercept significantly less direct radiation than a flatter module – especially at HN ≥ 20° where the terrain already tilts the array. </a:t>
            </a:r>
            <a:endParaRPr lang="de-CH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91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>
          <a:extLst>
            <a:ext uri="{FF2B5EF4-FFF2-40B4-BE49-F238E27FC236}">
              <a16:creationId xmlns:a16="http://schemas.microsoft.com/office/drawing/2014/main" id="{89A20B4E-8918-AE58-A90B-3E5DB776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>
            <a:extLst>
              <a:ext uri="{FF2B5EF4-FFF2-40B4-BE49-F238E27FC236}">
                <a16:creationId xmlns:a16="http://schemas.microsoft.com/office/drawing/2014/main" id="{39FE6D50-E8B5-0282-85E7-B455EC854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9189" y="1737675"/>
            <a:ext cx="4989411" cy="13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POA Irradiance &amp; Regression Model</a:t>
            </a:r>
            <a:endParaRPr dirty="0"/>
          </a:p>
        </p:txBody>
      </p:sp>
      <p:sp>
        <p:nvSpPr>
          <p:cNvPr id="498" name="Google Shape;498;p68">
            <a:extLst>
              <a:ext uri="{FF2B5EF4-FFF2-40B4-BE49-F238E27FC236}">
                <a16:creationId xmlns:a16="http://schemas.microsoft.com/office/drawing/2014/main" id="{33705C62-9900-D1C5-338A-C3526C173B3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151175" y="424768"/>
            <a:ext cx="3057300" cy="14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500" name="Google Shape;500;p68">
            <a:extLst>
              <a:ext uri="{FF2B5EF4-FFF2-40B4-BE49-F238E27FC236}">
                <a16:creationId xmlns:a16="http://schemas.microsoft.com/office/drawing/2014/main" id="{3C771133-5660-8FDA-C07F-F7397586FA28}"/>
              </a:ext>
            </a:extLst>
          </p:cNvPr>
          <p:cNvCxnSpPr/>
          <p:nvPr/>
        </p:nvCxnSpPr>
        <p:spPr>
          <a:xfrm>
            <a:off x="7425248" y="321980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78883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6DFEA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accent2">
                    <a:lumMod val="50000"/>
                  </a:schemeClr>
                </a:solidFill>
                <a:latin typeface="Julius Sans One" panose="020B0604020202020204" charset="0"/>
                <a:ea typeface="Calibri" pitchFamily="34" charset="-122"/>
                <a:cs typeface="Calibri" pitchFamily="34" charset="-120"/>
              </a:rPr>
              <a:t>POA Irradiance &amp; Regression Model</a:t>
            </a:r>
            <a:endParaRPr lang="en-US" sz="2500" dirty="0">
              <a:solidFill>
                <a:schemeClr val="accent2">
                  <a:lumMod val="50000"/>
                </a:schemeClr>
              </a:solidFill>
              <a:latin typeface="Julius Sans One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Irradiance  [Wh/m²]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South-facing (azimuth=180°), full period Oct–Mar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= 30°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61,368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023360" cy="685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11480" y="23134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= 40°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65,050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02336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= 60°</a:t>
            </a:r>
            <a:endParaRPr lang="en-US" sz="1400" dirty="0">
              <a:solidFill>
                <a:schemeClr val="accent5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37360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67,799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0" y="30632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+10.5%  ★</a:t>
            </a:r>
            <a:endParaRPr lang="en-US" sz="1300" dirty="0">
              <a:solidFill>
                <a:schemeClr val="accent5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4023360" cy="685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11480" y="3867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= 70°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3840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66,782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0" y="3840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MN=60° has most in-plane irradiance — but yield peaks at lower MN due to slope effect.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234440"/>
            <a:ext cx="4206240" cy="16459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480060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§15 – Aggregated (12 pts)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N/A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7512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pts for CV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1305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RA: 49%  MN: 31%  POA: 19%  HN: 2%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063240"/>
            <a:ext cx="4206240" cy="1645920"/>
          </a:xfrm>
          <a:prstGeom prst="rect">
            <a:avLst/>
          </a:prstGeom>
          <a:solidFill>
            <a:srgbClr val="D6DFEA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480060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§15b – Daily (1260 pts)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7512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 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959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POA_day: 98%  →  model learns weather,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configuration differences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663440"/>
            <a:ext cx="4206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R²=0.94 reflects weather dominance — suitable for interpolation only, not extrapolation to HN=40°.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61BBF8BD-5D98-8B9B-2AB1-7504A02E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1">
            <a:extLst>
              <a:ext uri="{FF2B5EF4-FFF2-40B4-BE49-F238E27FC236}">
                <a16:creationId xmlns:a16="http://schemas.microsoft.com/office/drawing/2014/main" id="{B11BC175-7150-4177-A331-AD52ADD0F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4644" y="2117677"/>
            <a:ext cx="4494711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Findings</a:t>
            </a:r>
            <a:endParaRPr dirty="0"/>
          </a:p>
        </p:txBody>
      </p:sp>
      <p:sp>
        <p:nvSpPr>
          <p:cNvPr id="625" name="Google Shape;625;p81">
            <a:extLst>
              <a:ext uri="{FF2B5EF4-FFF2-40B4-BE49-F238E27FC236}">
                <a16:creationId xmlns:a16="http://schemas.microsoft.com/office/drawing/2014/main" id="{DAC02CFF-BE2D-3D42-C4B2-576737B664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43350" y="1032009"/>
            <a:ext cx="30573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627" name="Google Shape;627;p81">
            <a:extLst>
              <a:ext uri="{FF2B5EF4-FFF2-40B4-BE49-F238E27FC236}">
                <a16:creationId xmlns:a16="http://schemas.microsoft.com/office/drawing/2014/main" id="{971B97AE-6DF5-DAFD-8306-A28605777F0A}"/>
              </a:ext>
            </a:extLst>
          </p:cNvPr>
          <p:cNvCxnSpPr/>
          <p:nvPr/>
        </p:nvCxnSpPr>
        <p:spPr>
          <a:xfrm>
            <a:off x="4248450" y="320334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91564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Julius Sans One" panose="020B060402020202020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Julius Sans One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38912" cy="438912"/>
          </a:xfrm>
          <a:prstGeom prst="ellipse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module tilts are optimal at steep slopes — HN=20° → MN=40° best; HN=30° → MN=30° best. Ground slope contributes effective tilt.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819656"/>
            <a:ext cx="438912" cy="438912"/>
          </a:xfrm>
          <a:prstGeom prst="ellipse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1965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row spacing (+RA) consistently increases bifacial yield through reduced inter-row shading. Effect: ~+4% from 115→205 mm at HN=20°.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438912" cy="438912"/>
          </a:xfrm>
          <a:prstGeom prst="ellipse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5877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Back-side contribution is 25–35% of total bifacial yield, amplified by high alpine snow albedo — significantly higher than flat-terrain sites.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438912" cy="438912"/>
          </a:xfrm>
          <a:prstGeom prst="ellipse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3558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 = 40°: insufficient measurement days (&lt;5). No statistically robust conclusions possible for this slope.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438912" cy="438912"/>
          </a:xfrm>
          <a:prstGeom prst="ellipse">
            <a:avLst/>
          </a:prstGeom>
          <a:solidFill>
            <a:srgbClr val="D6DFEA"/>
          </a:solidFill>
          <a:ln w="12700">
            <a:solidFill>
              <a:srgbClr val="AFC0D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57200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12394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R²=0.94 — but POA_day accounts for 98% feature importance. Model captures weather variability, not configuration effects.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7A6BB903-2B5B-7B36-628B-291AA914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1">
            <a:extLst>
              <a:ext uri="{FF2B5EF4-FFF2-40B4-BE49-F238E27FC236}">
                <a16:creationId xmlns:a16="http://schemas.microsoft.com/office/drawing/2014/main" id="{816D0B7B-7B48-7165-AA61-2EBE403FE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0200" y="2098184"/>
            <a:ext cx="34236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</a:t>
            </a:r>
            <a:endParaRPr dirty="0"/>
          </a:p>
        </p:txBody>
      </p:sp>
      <p:cxnSp>
        <p:nvCxnSpPr>
          <p:cNvPr id="627" name="Google Shape;627;p81">
            <a:extLst>
              <a:ext uri="{FF2B5EF4-FFF2-40B4-BE49-F238E27FC236}">
                <a16:creationId xmlns:a16="http://schemas.microsoft.com/office/drawing/2014/main" id="{12CAE809-074D-C193-85D3-7CB2EE239833}"/>
              </a:ext>
            </a:extLst>
          </p:cNvPr>
          <p:cNvCxnSpPr/>
          <p:nvPr/>
        </p:nvCxnSpPr>
        <p:spPr>
          <a:xfrm>
            <a:off x="4248450" y="320334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2352733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Grayscale Pitch Deck XL by Slidesgo">
  <a:themeElements>
    <a:clrScheme name="Simple Light">
      <a:dk1>
        <a:srgbClr val="000000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Bildschirmpräsentation (16:9)</PresentationFormat>
  <Paragraphs>172</Paragraphs>
  <Slides>24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Calibri</vt:lpstr>
      <vt:lpstr>Didact Gothic</vt:lpstr>
      <vt:lpstr>Arial</vt:lpstr>
      <vt:lpstr>Questrial</vt:lpstr>
      <vt:lpstr>Consolas</vt:lpstr>
      <vt:lpstr>Julius Sans One</vt:lpstr>
      <vt:lpstr>Minimalist Grayscale Pitch Deck XL by Slidesgo</vt:lpstr>
      <vt:lpstr>Mini-PVA Totalp Bifacial PV Analysis at a High-Alpine Site</vt:lpstr>
      <vt:lpstr>Site &amp; Experiment Setup</vt:lpstr>
      <vt:lpstr>Site &amp; Experiment Setup</vt:lpstr>
      <vt:lpstr>Data Processing Pipeline </vt:lpstr>
      <vt:lpstr>PowerPoint-Präsentation</vt:lpstr>
      <vt:lpstr>Measurement Overview</vt:lpstr>
      <vt:lpstr>PowerPoint-Präsentation</vt:lpstr>
      <vt:lpstr>PowerPoint-Präsentation</vt:lpstr>
      <vt:lpstr>Performance Map</vt:lpstr>
      <vt:lpstr>PowerPoint-Präsentation</vt:lpstr>
      <vt:lpstr>PowerPoint-Präsentation</vt:lpstr>
      <vt:lpstr>PowerPoint-Präsentation</vt:lpstr>
      <vt:lpstr>Row Spacing &amp; Bifacial Yield</vt:lpstr>
      <vt:lpstr>PowerPoint-Präsentation</vt:lpstr>
      <vt:lpstr>PowerPoint-Präsentation</vt:lpstr>
      <vt:lpstr>PowerPoint-Präsentation</vt:lpstr>
      <vt:lpstr>PowerPoint-Präsentation</vt:lpstr>
      <vt:lpstr>Solar Position</vt:lpstr>
      <vt:lpstr>PowerPoint-Präsentation</vt:lpstr>
      <vt:lpstr>POA Irradiance &amp; Regression Model</vt:lpstr>
      <vt:lpstr>PowerPoint-Präsentation</vt:lpstr>
      <vt:lpstr>Key Findings</vt:lpstr>
      <vt:lpstr>PowerPoint-Präsentation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Chantal Fuchs</cp:lastModifiedBy>
  <cp:revision>3</cp:revision>
  <dcterms:modified xsi:type="dcterms:W3CDTF">2026-03-20T13:36:05Z</dcterms:modified>
</cp:coreProperties>
</file>