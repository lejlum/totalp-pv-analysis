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2F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7680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6583680" y="365760"/>
            <a:ext cx="2286000" cy="2286000"/>
          </a:xfrm>
          <a:prstGeom prst="ellipse">
            <a:avLst/>
          </a:prstGeom>
          <a:solidFill>
            <a:srgbClr val="E8872A">
              <a:alpha val="18000"/>
            </a:srgbClr>
          </a:solidFill>
          <a:ln w="12700">
            <a:solidFill>
              <a:srgbClr val="E887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7040880" y="822960"/>
            <a:ext cx="1371600" cy="1371600"/>
          </a:xfrm>
          <a:prstGeom prst="ellipse">
            <a:avLst/>
          </a:prstGeom>
          <a:solidFill>
            <a:srgbClr val="E8872A">
              <a:alpha val="40000"/>
            </a:srgbClr>
          </a:solidFill>
          <a:ln w="12700">
            <a:solidFill>
              <a:srgbClr val="E8872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Mini-PVA Totalp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8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PV Performance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2024 – March 2025  |  Totalp, Davos  |  2486 m a.s.l.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029200" cy="0"/>
          </a:xfrm>
          <a:prstGeom prst="line">
            <a:avLst/>
          </a:prstGeom>
          <a:noFill/>
          <a:ln w="10160">
            <a:solidFill>
              <a:srgbClr val="7B9BB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Chantal Fuchs  |  Lejla Beganovic  |  Nicola Noger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&amp; Energy Engineering – ZHAW  |  Group 1: HN ≥ 20°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Mini-PVA?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motorised miniature PV experiment at high altitude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64008" cy="105156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475488" y="1124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3990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Totalp, Davos — 2486 m a.s.l.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Weissfluhjoch peak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64008" cy="105156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75488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263347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cycles through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combinations of 3 parameters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5204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320040" y="3520440"/>
            <a:ext cx="64008" cy="105156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475488" y="3593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miniaturised?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38679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parameter sweeps are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— 1 robot = 80+ plants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406908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489204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Parameters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508760"/>
          <a:ext cx="3794760" cy="457200"/>
        </p:xfrm>
        <a:graphic>
          <a:graphicData uri="http://schemas.openxmlformats.org/drawingml/2006/table">
            <a:tbl>
              <a:tblPr/>
              <a:tblGrid>
                <a:gridCol w="126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984248"/>
          <a:ext cx="3794760" cy="457200"/>
        </p:xfrm>
        <a:graphic>
          <a:graphicData uri="http://schemas.openxmlformats.org/drawingml/2006/table">
            <a:tbl>
              <a:tblPr/>
              <a:tblGrid>
                <a:gridCol w="126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spacing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 – 688 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459736"/>
          <a:ext cx="3794760" cy="457200"/>
        </p:xfrm>
        <a:graphic>
          <a:graphicData uri="http://schemas.openxmlformats.org/drawingml/2006/table">
            <a:tbl>
              <a:tblPr/>
              <a:tblGrid>
                <a:gridCol w="126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tilt angle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30° – 90°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935224"/>
          <a:ext cx="3794760" cy="457200"/>
        </p:xfrm>
        <a:graphic>
          <a:graphicData uri="http://schemas.openxmlformats.org/drawingml/2006/table">
            <a:tbl>
              <a:tblPr/>
              <a:tblGrid>
                <a:gridCol w="126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slope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0° – 40°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Text 18"/>
          <p:cNvSpPr/>
          <p:nvPr/>
        </p:nvSpPr>
        <p:spPr>
          <a:xfrm>
            <a:off x="4892040" y="3474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8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group focus: ground slope HN ≥ 20°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Pipeline: From Raw Files to Combined Dataset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sources, ~944,000 rows, 6 months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978408" y="1097280"/>
            <a:ext cx="640080" cy="640080"/>
          </a:xfrm>
          <a:prstGeom prst="ellipse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978408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2267712"/>
            <a:ext cx="175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daily Mini-PVA CSVs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environmental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large installation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STC reference powers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0" y="2697480"/>
            <a:ext cx="210312" cy="0"/>
          </a:xfrm>
          <a:prstGeom prst="line">
            <a:avLst/>
          </a:prstGeom>
          <a:noFill/>
          <a:ln w="254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2496312" y="100584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3154680" y="1097280"/>
            <a:ext cx="640080" cy="640080"/>
          </a:xfrm>
          <a:prstGeom prst="ellipse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315468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87752" y="18745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2267712"/>
            <a:ext cx="175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Tluft string → float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Ghor error flags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MN uint16 overflow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MN=0 (night pos.)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62272" y="2697480"/>
            <a:ext cx="210312" cy="0"/>
          </a:xfrm>
          <a:prstGeom prst="line">
            <a:avLst/>
          </a:prstGeom>
          <a:noFill/>
          <a:ln w="254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4672584" y="100584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9" name="Shape 17"/>
          <p:cNvSpPr/>
          <p:nvPr/>
        </p:nvSpPr>
        <p:spPr>
          <a:xfrm>
            <a:off x="5330952" y="1097280"/>
            <a:ext cx="640080" cy="640080"/>
          </a:xfrm>
          <a:prstGeom prst="ellipse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5330952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64024" y="18745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82312" y="2267712"/>
            <a:ext cx="175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 to Europe/Zurich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DST transition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27.10.2024 → 8 rows dropped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(ambiguous timestamps)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38544" y="2697480"/>
            <a:ext cx="210312" cy="0"/>
          </a:xfrm>
          <a:prstGeom prst="line">
            <a:avLst/>
          </a:prstGeom>
          <a:noFill/>
          <a:ln w="254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Shape 22"/>
          <p:cNvSpPr/>
          <p:nvPr/>
        </p:nvSpPr>
        <p:spPr>
          <a:xfrm>
            <a:off x="6848856" y="100584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5" name="Shape 23"/>
          <p:cNvSpPr/>
          <p:nvPr/>
        </p:nvSpPr>
        <p:spPr>
          <a:xfrm>
            <a:off x="7507224" y="1097280"/>
            <a:ext cx="640080" cy="640080"/>
          </a:xfrm>
          <a:prstGeom prst="ellipse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 24"/>
          <p:cNvSpPr/>
          <p:nvPr/>
        </p:nvSpPr>
        <p:spPr>
          <a:xfrm>
            <a:off x="7507224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40296" y="18745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58584" y="2267712"/>
            <a:ext cx="175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Day-wise interpolation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overnight bridging)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position via pvlib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variability index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combined DataFrame with 944,048 rows | 174 of 182 days have data | 0.8% missing environmental values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Day: Normalised Power &amp; Irradiance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1, 2024  |  MN=60°, RA=358 mm, HN=0°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" y="4251960"/>
            <a:ext cx="4114800" cy="685800"/>
          </a:xfrm>
          <a:prstGeom prst="rect">
            <a:avLst/>
          </a:prstGeom>
          <a:solidFill>
            <a:srgbClr val="1A2F4A">
              <a:alpha val="92000"/>
            </a:srgbClr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5"/>
          <p:cNvSpPr/>
          <p:nvPr/>
        </p:nvSpPr>
        <p:spPr>
          <a:xfrm>
            <a:off x="411480" y="42702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Jagged curves = normal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Mini-PVA switches configuration every few minutes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4251960"/>
            <a:ext cx="4114800" cy="685800"/>
          </a:xfrm>
          <a:prstGeom prst="rect">
            <a:avLst/>
          </a:prstGeom>
          <a:solidFill>
            <a:srgbClr val="E8872A">
              <a:alpha val="90000"/>
            </a:srgbClr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7"/>
          <p:cNvSpPr/>
          <p:nvPr/>
        </p:nvSpPr>
        <p:spPr>
          <a:xfrm>
            <a:off x="4800600" y="42702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panel confirms: dips in power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with cloud events</a:t>
            </a:r>
            <a:endParaRPr lang="en-US" sz="100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8FC9261-F03B-C1A8-BCC4-F1EC41345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697" y="1111700"/>
            <a:ext cx="5878286" cy="29200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Bifaciality &amp; Inter-row Shading (Single Day)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 physical effects visible even on one day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182880" y="2761488"/>
            <a:ext cx="4320000" cy="274320"/>
          </a:xfrm>
          <a:prstGeom prst="rect">
            <a:avLst/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9" name="Text 5"/>
          <p:cNvSpPr/>
          <p:nvPr/>
        </p:nvSpPr>
        <p:spPr>
          <a:xfrm>
            <a:off x="274320" y="27706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side clearly higher than back side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663440" y="2761488"/>
            <a:ext cx="4320000" cy="274320"/>
          </a:xfrm>
          <a:prstGeom prst="rect">
            <a:avLst/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1" name="Text 7"/>
          <p:cNvSpPr/>
          <p:nvPr/>
        </p:nvSpPr>
        <p:spPr>
          <a:xfrm>
            <a:off x="4754880" y="27706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row ≈ back row → minimal shading at RA=358 mm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82880" y="3154680"/>
            <a:ext cx="8800560" cy="16916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9"/>
          <p:cNvSpPr/>
          <p:nvPr/>
        </p:nvSpPr>
        <p:spPr>
          <a:xfrm>
            <a:off x="182880" y="3154680"/>
            <a:ext cx="64008" cy="169164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0"/>
          <p:cNvSpPr/>
          <p:nvPr/>
        </p:nvSpPr>
        <p:spPr>
          <a:xfrm>
            <a:off x="347472" y="32186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single-day analysis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7472" y="3538728"/>
            <a:ext cx="8503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8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side contributes ~20–25% of front-side yield even without snow
</a:t>
            </a:r>
            <a:r>
              <a:rPr lang="en-US" sz="1100" dirty="0">
                <a:solidFill>
                  <a:srgbClr val="E88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RA=358 mm and MN=60°, inter-row shading is small — front and back row nearly identical
</a:t>
            </a:r>
            <a:r>
              <a:rPr lang="en-US" sz="1100" dirty="0">
                <a:solidFill>
                  <a:srgbClr val="E88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effects set up the motivation for the multi-day performance map</a:t>
            </a:r>
            <a:endParaRPr lang="en-US" sz="1100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99F57411-6894-6BEF-75E9-118D8F490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05840"/>
            <a:ext cx="4320000" cy="1649613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0A625CA7-BB6F-5283-FEA6-2E11A5EFA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13284"/>
            <a:ext cx="4320000" cy="16293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at a Glance: Daily Yield Calendar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18 – Front row, Front side  |  Oct 2024 – Mar 2025</a:t>
            </a:r>
            <a:endParaRPr lang="en-US" sz="1100" dirty="0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7A33A6F3-DE50-CE4C-DB05-2B5FC240698C}"/>
              </a:ext>
            </a:extLst>
          </p:cNvPr>
          <p:cNvGrpSpPr/>
          <p:nvPr/>
        </p:nvGrpSpPr>
        <p:grpSpPr>
          <a:xfrm>
            <a:off x="274320" y="3272246"/>
            <a:ext cx="8503920" cy="868680"/>
            <a:chOff x="274320" y="3017520"/>
            <a:chExt cx="8503920" cy="868680"/>
          </a:xfrm>
        </p:grpSpPr>
        <p:sp>
          <p:nvSpPr>
            <p:cNvPr id="7" name="Shape 4"/>
            <p:cNvSpPr/>
            <p:nvPr/>
          </p:nvSpPr>
          <p:spPr>
            <a:xfrm>
              <a:off x="274320" y="3017520"/>
              <a:ext cx="2560320" cy="868680"/>
            </a:xfrm>
            <a:prstGeom prst="rect">
              <a:avLst/>
            </a:prstGeom>
            <a:solidFill>
              <a:srgbClr val="1A2F4A"/>
            </a:solidFill>
            <a:ln w="12700">
              <a:solidFill>
                <a:srgbClr val="1A2F4A"/>
              </a:solidFill>
              <a:prstDash val="solid"/>
            </a:ln>
          </p:spPr>
          <p:txBody>
            <a:bodyPr/>
            <a:lstStyle/>
            <a:p>
              <a:endParaRPr lang="de-CH"/>
            </a:p>
          </p:txBody>
        </p:sp>
        <p:sp>
          <p:nvSpPr>
            <p:cNvPr id="8" name="Shape 5"/>
            <p:cNvSpPr/>
            <p:nvPr/>
          </p:nvSpPr>
          <p:spPr>
            <a:xfrm>
              <a:off x="274320" y="3017520"/>
              <a:ext cx="54864" cy="868680"/>
            </a:xfrm>
            <a:prstGeom prst="rect">
              <a:avLst/>
            </a:prstGeom>
            <a:solidFill>
              <a:srgbClr val="E8872A"/>
            </a:solidFill>
            <a:ln w="12700">
              <a:solidFill>
                <a:srgbClr val="E8872A"/>
              </a:solidFill>
              <a:prstDash val="solid"/>
            </a:ln>
          </p:spPr>
          <p:txBody>
            <a:bodyPr/>
            <a:lstStyle/>
            <a:p>
              <a:endParaRPr lang="de-CH"/>
            </a:p>
          </p:txBody>
        </p:sp>
        <p:sp>
          <p:nvSpPr>
            <p:cNvPr id="9" name="Text 6"/>
            <p:cNvSpPr/>
            <p:nvPr/>
          </p:nvSpPr>
          <p:spPr>
            <a:xfrm>
              <a:off x="384048" y="3090672"/>
              <a:ext cx="2395728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Early Oct (week 40): </a:t>
              </a:r>
            </a:p>
            <a:p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weakest yields — no snow yet, short days</a:t>
              </a:r>
            </a:p>
          </p:txBody>
        </p:sp>
        <p:sp>
          <p:nvSpPr>
            <p:cNvPr id="10" name="Shape 7"/>
            <p:cNvSpPr/>
            <p:nvPr/>
          </p:nvSpPr>
          <p:spPr>
            <a:xfrm>
              <a:off x="3108960" y="3017520"/>
              <a:ext cx="2560320" cy="868680"/>
            </a:xfrm>
            <a:prstGeom prst="rect">
              <a:avLst/>
            </a:prstGeom>
            <a:solidFill>
              <a:srgbClr val="2B4C6F"/>
            </a:solidFill>
            <a:ln w="12700">
              <a:solidFill>
                <a:srgbClr val="2B4C6F"/>
              </a:solidFill>
              <a:prstDash val="solid"/>
            </a:ln>
          </p:spPr>
          <p:txBody>
            <a:bodyPr/>
            <a:lstStyle/>
            <a:p>
              <a:endParaRPr lang="de-CH"/>
            </a:p>
          </p:txBody>
        </p:sp>
        <p:sp>
          <p:nvSpPr>
            <p:cNvPr id="11" name="Shape 8"/>
            <p:cNvSpPr/>
            <p:nvPr/>
          </p:nvSpPr>
          <p:spPr>
            <a:xfrm>
              <a:off x="3108960" y="3017520"/>
              <a:ext cx="54864" cy="868680"/>
            </a:xfrm>
            <a:prstGeom prst="rect">
              <a:avLst/>
            </a:prstGeom>
            <a:solidFill>
              <a:srgbClr val="E8872A"/>
            </a:solidFill>
            <a:ln w="12700">
              <a:solidFill>
                <a:srgbClr val="E8872A"/>
              </a:solidFill>
              <a:prstDash val="solid"/>
            </a:ln>
          </p:spPr>
          <p:txBody>
            <a:bodyPr/>
            <a:lstStyle/>
            <a:p>
              <a:endParaRPr lang="de-CH"/>
            </a:p>
          </p:txBody>
        </p:sp>
        <p:sp>
          <p:nvSpPr>
            <p:cNvPr id="12" name="Text 9"/>
            <p:cNvSpPr/>
            <p:nvPr/>
          </p:nvSpPr>
          <p:spPr>
            <a:xfrm>
              <a:off x="3218688" y="3090672"/>
              <a:ext cx="2395728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Dec–Jan: </a:t>
              </a:r>
            </a:p>
            <a:p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 yields — shortest days, lowest sun angles</a:t>
              </a:r>
            </a:p>
          </p:txBody>
        </p:sp>
        <p:sp>
          <p:nvSpPr>
            <p:cNvPr id="13" name="Shape 10"/>
            <p:cNvSpPr/>
            <p:nvPr/>
          </p:nvSpPr>
          <p:spPr>
            <a:xfrm>
              <a:off x="5943600" y="3017520"/>
              <a:ext cx="2834640" cy="868680"/>
            </a:xfrm>
            <a:prstGeom prst="rect">
              <a:avLst/>
            </a:prstGeom>
            <a:solidFill>
              <a:srgbClr val="E8872A"/>
            </a:solidFill>
            <a:ln w="12700">
              <a:solidFill>
                <a:srgbClr val="E8872A"/>
              </a:solidFill>
              <a:prstDash val="solid"/>
            </a:ln>
          </p:spPr>
          <p:txBody>
            <a:bodyPr/>
            <a:lstStyle/>
            <a:p>
              <a:endParaRPr lang="de-CH"/>
            </a:p>
          </p:txBody>
        </p:sp>
        <p:sp>
          <p:nvSpPr>
            <p:cNvPr id="14" name="Shape 11"/>
            <p:cNvSpPr/>
            <p:nvPr/>
          </p:nvSpPr>
          <p:spPr>
            <a:xfrm>
              <a:off x="5943600" y="3017520"/>
              <a:ext cx="54864" cy="868680"/>
            </a:xfrm>
            <a:prstGeom prst="rect">
              <a:avLst/>
            </a:prstGeom>
            <a:solidFill>
              <a:srgbClr val="E8872A"/>
            </a:solidFill>
            <a:ln w="12700">
              <a:solidFill>
                <a:srgbClr val="E8872A"/>
              </a:solidFill>
              <a:prstDash val="solid"/>
            </a:ln>
          </p:spPr>
          <p:txBody>
            <a:bodyPr/>
            <a:lstStyle/>
            <a:p>
              <a:endParaRPr lang="de-CH"/>
            </a:p>
          </p:txBody>
        </p:sp>
        <p:sp>
          <p:nvSpPr>
            <p:cNvPr id="15" name="Text 12"/>
            <p:cNvSpPr/>
            <p:nvPr/>
          </p:nvSpPr>
          <p:spPr>
            <a:xfrm>
              <a:off x="6053328" y="3090672"/>
              <a:ext cx="2670048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Feb–Mar (weeks 5–14): </a:t>
              </a:r>
            </a:p>
            <a:p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highest yields — longer days + snow albedo boost</a:t>
              </a:r>
            </a:p>
          </p:txBody>
        </p:sp>
      </p:grpSp>
      <p:sp>
        <p:nvSpPr>
          <p:cNvPr id="16" name="Text 1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7B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ISO week numbers — right cluster = Oct–Dec 2024 (weeks 40–52), left cluster = Jan–Mar 2025 (weeks 1–14)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06D0227A-76D4-59D7-2CB2-6C72AE777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67696"/>
            <a:ext cx="8503920" cy="17426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Bifacial Yield: Combining Front &amp; Back Side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specified in the project assignment  |  Bifaciality factor = 0.9</a:t>
            </a:r>
            <a:endParaRPr lang="en-US" sz="1100" dirty="0"/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1CEC7345-C7CE-6EEE-C76E-D90A70E995C8}"/>
              </a:ext>
            </a:extLst>
          </p:cNvPr>
          <p:cNvGrpSpPr/>
          <p:nvPr/>
        </p:nvGrpSpPr>
        <p:grpSpPr>
          <a:xfrm>
            <a:off x="996042" y="3409406"/>
            <a:ext cx="3895898" cy="1574372"/>
            <a:chOff x="320039" y="2811903"/>
            <a:chExt cx="3709851" cy="2231136"/>
          </a:xfrm>
        </p:grpSpPr>
        <p:sp>
          <p:nvSpPr>
            <p:cNvPr id="6" name="Shape 4"/>
            <p:cNvSpPr/>
            <p:nvPr/>
          </p:nvSpPr>
          <p:spPr>
            <a:xfrm>
              <a:off x="320039" y="2811903"/>
              <a:ext cx="3709851" cy="2231136"/>
            </a:xfrm>
            <a:prstGeom prst="rect">
              <a:avLst/>
            </a:prstGeom>
            <a:solidFill>
              <a:srgbClr val="1A2F4A"/>
            </a:solidFill>
            <a:ln w="12700">
              <a:solidFill>
                <a:srgbClr val="1A2F4A"/>
              </a:solidFill>
              <a:prstDash val="solid"/>
            </a:ln>
          </p:spPr>
          <p:txBody>
            <a:bodyPr/>
            <a:lstStyle/>
            <a:p>
              <a:endParaRPr lang="de-CH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40080" y="3133250"/>
              <a:ext cx="3170408" cy="17177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8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Formula</a:t>
              </a:r>
              <a:r>
                <a:rPr lang="en-US" sz="1000" b="1" dirty="0">
                  <a:solidFill>
                    <a:srgbClr val="E88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</a:t>
              </a:r>
              <a:r>
                <a:rPr lang="en-US" sz="1400" b="1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Y_bif</a:t>
              </a: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= </a:t>
              </a:r>
              <a:r>
                <a:rPr lang="en-US" sz="1400" b="1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Y_front</a:t>
              </a: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+ 0.9 × </a:t>
              </a:r>
              <a:r>
                <a:rPr lang="en-US" sz="1400" b="1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Y_back</a:t>
              </a:r>
              <a:endPara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buNone/>
              </a:pPr>
              <a:endPara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Combined at daily integral level  (front &amp; back measured ~1s apart)
</a:t>
              </a:r>
              <a:r>
                <a:rPr lang="en-US" sz="1000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Bifaciality</a:t>
              </a: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factor 0.9 = back side is 90% as efficient as front side
Back side → diffuse light + snow</a:t>
              </a:r>
              <a:r>
                <a:rPr lang="en-US" sz="1000" dirty="0"/>
                <a:t> </a:t>
              </a: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albedo reflection</a:t>
              </a:r>
              <a:endParaRPr lang="en-US" sz="1000" dirty="0"/>
            </a:p>
            <a:p>
              <a:pPr marL="0" indent="0">
                <a:buNone/>
              </a:pPr>
              <a:endParaRPr lang="en-US" sz="1400" dirty="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A0654D98-78A4-5BBD-13AA-59C1E4A10E8E}"/>
              </a:ext>
            </a:extLst>
          </p:cNvPr>
          <p:cNvGrpSpPr/>
          <p:nvPr/>
        </p:nvGrpSpPr>
        <p:grpSpPr>
          <a:xfrm>
            <a:off x="996042" y="2974593"/>
            <a:ext cx="7151915" cy="274320"/>
            <a:chOff x="4389120" y="3429000"/>
            <a:chExt cx="4480560" cy="274320"/>
          </a:xfrm>
        </p:grpSpPr>
        <p:sp>
          <p:nvSpPr>
            <p:cNvPr id="11" name="Shape 8"/>
            <p:cNvSpPr/>
            <p:nvPr/>
          </p:nvSpPr>
          <p:spPr>
            <a:xfrm>
              <a:off x="4389120" y="3429000"/>
              <a:ext cx="4480560" cy="274320"/>
            </a:xfrm>
            <a:prstGeom prst="rect">
              <a:avLst/>
            </a:prstGeom>
            <a:solidFill>
              <a:srgbClr val="2B4C6F"/>
            </a:solidFill>
            <a:ln w="12700">
              <a:solidFill>
                <a:srgbClr val="2B4C6F"/>
              </a:solidFill>
              <a:prstDash val="solid"/>
            </a:ln>
          </p:spPr>
          <p:txBody>
            <a:bodyPr/>
            <a:lstStyle/>
            <a:p>
              <a:endParaRPr lang="de-CH"/>
            </a:p>
          </p:txBody>
        </p:sp>
        <p:sp>
          <p:nvSpPr>
            <p:cNvPr id="12" name="Text 9"/>
            <p:cNvSpPr/>
            <p:nvPr/>
          </p:nvSpPr>
          <p:spPr>
            <a:xfrm>
              <a:off x="4480560" y="3438144"/>
              <a:ext cx="4297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 side avg. ~25%  |  Peaks to 40% on snow days</a:t>
              </a:r>
              <a:endParaRPr lang="en-US" sz="1000" dirty="0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862EC2AB-584C-AC04-DFBE-E22448C024F2}"/>
              </a:ext>
            </a:extLst>
          </p:cNvPr>
          <p:cNvGrpSpPr/>
          <p:nvPr/>
        </p:nvGrpSpPr>
        <p:grpSpPr>
          <a:xfrm>
            <a:off x="5157931" y="3680034"/>
            <a:ext cx="2990026" cy="1033272"/>
            <a:chOff x="320040" y="3822192"/>
            <a:chExt cx="3840480" cy="1097280"/>
          </a:xfrm>
        </p:grpSpPr>
        <p:sp>
          <p:nvSpPr>
            <p:cNvPr id="13" name="Shape 10"/>
            <p:cNvSpPr/>
            <p:nvPr/>
          </p:nvSpPr>
          <p:spPr>
            <a:xfrm>
              <a:off x="320040" y="3822192"/>
              <a:ext cx="1188720" cy="1097280"/>
            </a:xfrm>
            <a:prstGeom prst="rect">
              <a:avLst/>
            </a:prstGeom>
            <a:solidFill>
              <a:srgbClr val="F0F4F8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CH"/>
            </a:p>
          </p:txBody>
        </p:sp>
        <p:sp>
          <p:nvSpPr>
            <p:cNvPr id="14" name="Text 11"/>
            <p:cNvSpPr/>
            <p:nvPr/>
          </p:nvSpPr>
          <p:spPr>
            <a:xfrm>
              <a:off x="320040" y="3886200"/>
              <a:ext cx="11887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88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~25%</a:t>
              </a:r>
              <a:endParaRPr lang="en-US" sz="22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320040" y="4407408"/>
              <a:ext cx="11887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Avg back-side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contribution</a:t>
              </a:r>
              <a:endParaRPr lang="en-US" sz="95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1645920" y="3822192"/>
              <a:ext cx="1188720" cy="1097280"/>
            </a:xfrm>
            <a:prstGeom prst="rect">
              <a:avLst/>
            </a:prstGeom>
            <a:solidFill>
              <a:srgbClr val="F0F4F8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CH"/>
            </a:p>
          </p:txBody>
        </p:sp>
        <p:sp>
          <p:nvSpPr>
            <p:cNvPr id="17" name="Text 14"/>
            <p:cNvSpPr/>
            <p:nvPr/>
          </p:nvSpPr>
          <p:spPr>
            <a:xfrm>
              <a:off x="1645920" y="3886200"/>
              <a:ext cx="11887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88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40%</a:t>
              </a:r>
              <a:endParaRPr lang="en-US" sz="22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1645920" y="4407408"/>
              <a:ext cx="11887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Peaks on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snow days</a:t>
              </a:r>
              <a:endParaRPr lang="en-US" sz="95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2971800" y="3822192"/>
              <a:ext cx="1188720" cy="1097280"/>
            </a:xfrm>
            <a:prstGeom prst="rect">
              <a:avLst/>
            </a:prstGeom>
            <a:solidFill>
              <a:srgbClr val="F0F4F8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CH"/>
            </a:p>
          </p:txBody>
        </p:sp>
        <p:sp>
          <p:nvSpPr>
            <p:cNvPr id="20" name="Text 17"/>
            <p:cNvSpPr/>
            <p:nvPr/>
          </p:nvSpPr>
          <p:spPr>
            <a:xfrm>
              <a:off x="2971800" y="3886200"/>
              <a:ext cx="11887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88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0.9</a:t>
              </a:r>
              <a:endParaRPr lang="en-US" sz="22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2971800" y="4407408"/>
              <a:ext cx="11887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Bifaciality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factor</a:t>
              </a:r>
              <a:endParaRPr lang="en-US" sz="950" dirty="0"/>
            </a:p>
          </p:txBody>
        </p:sp>
      </p:grpSp>
      <p:pic>
        <p:nvPicPr>
          <p:cNvPr id="32" name="Grafik 31">
            <a:extLst>
              <a:ext uri="{FF2B5EF4-FFF2-40B4-BE49-F238E27FC236}">
                <a16:creationId xmlns:a16="http://schemas.microsoft.com/office/drawing/2014/main" id="{E8FB9B1D-B8DC-612F-CA63-8DDECE63E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042" y="1089348"/>
            <a:ext cx="7151915" cy="17497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Map: Bifacial Yield Heatmap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CH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</a:t>
            </a:r>
            <a:r>
              <a:rPr lang="de-CH" sz="1100" i="1" dirty="0" err="1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r>
              <a:rPr lang="de-CH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HN ≥ 20° | </a:t>
            </a:r>
            <a:r>
              <a:rPr lang="de-CH" sz="1100" i="1" dirty="0" err="1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r>
              <a:rPr lang="de-CH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CH" sz="1100" i="1" dirty="0" err="1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r>
              <a:rPr lang="de-CH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CH" sz="1100" i="1" dirty="0" err="1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r>
              <a:rPr lang="de-CH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2024 – Mar 2025 | </a:t>
            </a:r>
            <a:r>
              <a:rPr lang="de-CH" sz="1100" i="1" dirty="0" err="1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Bifacial</a:t>
            </a:r>
            <a:r>
              <a:rPr lang="de-CH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front </a:t>
            </a:r>
            <a:r>
              <a:rPr lang="de-CH" sz="1100" i="1" dirty="0" err="1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r>
              <a:rPr lang="de-CH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de-CH" sz="1100" i="1" dirty="0" err="1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r>
              <a:rPr lang="de-CH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total </a:t>
            </a:r>
            <a:r>
              <a:rPr lang="de-CH" sz="1100" i="1" dirty="0" err="1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r>
              <a:rPr lang="de-CH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[Wh/</a:t>
            </a:r>
            <a:r>
              <a:rPr lang="de-CH" sz="1100" i="1" dirty="0" err="1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</a:t>
            </a:r>
            <a:r>
              <a:rPr lang="de-CH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00" i="1" dirty="0">
              <a:solidFill>
                <a:srgbClr val="2B4C6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82880" y="3660212"/>
            <a:ext cx="8778240" cy="1274935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5"/>
          <p:cNvSpPr/>
          <p:nvPr/>
        </p:nvSpPr>
        <p:spPr>
          <a:xfrm>
            <a:off x="365760" y="371507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configurations with ≥ 5 days of data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469580"/>
              </p:ext>
            </p:extLst>
          </p:nvPr>
        </p:nvGraphicFramePr>
        <p:xfrm>
          <a:off x="274320" y="4025972"/>
          <a:ext cx="8595360" cy="265176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4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 options 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4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4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total yield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4C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022870"/>
              </p:ext>
            </p:extLst>
          </p:nvPr>
        </p:nvGraphicFramePr>
        <p:xfrm>
          <a:off x="274320" y="4291148"/>
          <a:ext cx="8595360" cy="265176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3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40° and 70°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3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 – 205 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3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497.6 Wh/Wp  (MN=40°, RA=205mm)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3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903147"/>
              </p:ext>
            </p:extLst>
          </p:nvPr>
        </p:nvGraphicFramePr>
        <p:xfrm>
          <a:off x="274320" y="4556324"/>
          <a:ext cx="8595360" cy="265176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30° and 60°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 – 137 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503.9 Wh/Wp  (MN=30°, RA=137mm)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" name="Grafik 10">
            <a:extLst>
              <a:ext uri="{FF2B5EF4-FFF2-40B4-BE49-F238E27FC236}">
                <a16:creationId xmlns:a16="http://schemas.microsoft.com/office/drawing/2014/main" id="{9F4B0EE0-6E6C-0E54-7AEB-F9B29181B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254" y="1068995"/>
            <a:ext cx="5401492" cy="24083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focus: Very steep ground inclinations HN ≥ 20°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64008" cy="160020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411480" cy="411480"/>
          </a:xfrm>
          <a:prstGeom prst="ellipse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tilt decreases with steeper ground slope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508760"/>
            <a:ext cx="3429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CH" sz="100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HN=20° → MN=40°, RA=205 mm → 498 Wh/</a:t>
            </a:r>
            <a:r>
              <a:rPr lang="de-CH" sz="1000" dirty="0" err="1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</a:t>
            </a:r>
            <a:r>
              <a:rPr lang="de-CH" sz="100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r>
              <a:rPr lang="de-CH" sz="100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HN=30° → MN=30°, RA=137 mm → 504 Wh/</a:t>
            </a:r>
            <a:r>
              <a:rPr lang="de-CH" sz="1000" dirty="0" err="1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</a:t>
            </a:r>
            <a:endParaRPr lang="en-US" sz="1000" dirty="0">
              <a:solidFill>
                <a:srgbClr val="2B4C6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 slope already tilts the array toward the sun. A high MN on top would overcorrect and reduce yield.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64008" cy="16002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411480" y="2944368"/>
            <a:ext cx="411480" cy="411480"/>
          </a:xfrm>
          <a:prstGeom prst="ellipse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11480" y="2944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row spacing = higher yield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337560"/>
            <a:ext cx="3429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increases with RA across all configurations. The effect is visible but modest in the measured range (115–205 mm). Wider spacings reduce inter-row shading.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00584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9" name="Shape 17"/>
          <p:cNvSpPr/>
          <p:nvPr/>
        </p:nvSpPr>
        <p:spPr>
          <a:xfrm>
            <a:off x="4709160" y="1005840"/>
            <a:ext cx="64008" cy="1600200"/>
          </a:xfrm>
          <a:prstGeom prst="rect">
            <a:avLst/>
          </a:prstGeom>
          <a:solidFill>
            <a:srgbClr val="7B9BBD"/>
          </a:solidFill>
          <a:ln w="12700">
            <a:solidFill>
              <a:srgbClr val="7B9BB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4846320" y="1115568"/>
            <a:ext cx="411480" cy="411480"/>
          </a:xfrm>
          <a:prstGeom prst="ellipse">
            <a:avLst/>
          </a:prstGeom>
          <a:solidFill>
            <a:srgbClr val="7B9BBD"/>
          </a:solidFill>
          <a:ln w="12700">
            <a:solidFill>
              <a:srgbClr val="7B9BB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4846320" y="1115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10972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albedo amplifies back-side yield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1508760"/>
            <a:ext cx="3429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back-side contribution ~25%, with peaks to 40% on fresh snow days. This is much higher than typical lowland sites — a key advantage of alpine PV.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83464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5" name="Shape 23"/>
          <p:cNvSpPr/>
          <p:nvPr/>
        </p:nvSpPr>
        <p:spPr>
          <a:xfrm>
            <a:off x="4709160" y="2834640"/>
            <a:ext cx="64008" cy="1600200"/>
          </a:xfrm>
          <a:prstGeom prst="rect">
            <a:avLst/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Shape 24"/>
          <p:cNvSpPr/>
          <p:nvPr/>
        </p:nvSpPr>
        <p:spPr>
          <a:xfrm>
            <a:off x="4846320" y="2944368"/>
            <a:ext cx="411480" cy="411480"/>
          </a:xfrm>
          <a:prstGeom prst="ellipse">
            <a:avLst/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4846320" y="2944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29260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 for HN=40°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3337560"/>
            <a:ext cx="3429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5 measurement days for any HN=40° configuration. Only the regression model provides estimates, with caution advised.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Model: Filling the Gaps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yield for unmeasured configurations (e.g. HN=40°)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023360" cy="384048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(scikit-learn)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474720" cy="0"/>
          </a:xfrm>
          <a:prstGeom prst="line">
            <a:avLst/>
          </a:prstGeom>
          <a:noFill/>
          <a:ln w="6350">
            <a:solidFill>
              <a:srgbClr val="2B4C6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1,260 daily bifacial yields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 configurations × ~105 days)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474720" cy="0"/>
          </a:xfrm>
          <a:prstGeom prst="line">
            <a:avLst/>
          </a:prstGeom>
          <a:noFill/>
          <a:ln w="6350">
            <a:solidFill>
              <a:srgbClr val="2B4C6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HN, MN, RA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POA_day (pvlib irradiance)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3474720" cy="0"/>
          </a:xfrm>
          <a:prstGeom prst="line">
            <a:avLst/>
          </a:prstGeom>
          <a:noFill/>
          <a:ln w="6350">
            <a:solidFill>
              <a:srgbClr val="2B4C6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133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0.94 (5-fold CV)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960120"/>
            <a:ext cx="42519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470916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POA_day (irradiance)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1508760"/>
            <a:ext cx="1526499" cy="201168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8430219" y="14904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1856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 (tilt angle)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1901952"/>
            <a:ext cx="36576" cy="201168"/>
          </a:xfrm>
          <a:prstGeom prst="rect">
            <a:avLst/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3"/>
          <p:cNvSpPr/>
          <p:nvPr/>
        </p:nvSpPr>
        <p:spPr>
          <a:xfrm>
            <a:off x="6940296" y="1883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2249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 (ground slope)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2295144"/>
            <a:ext cx="36576" cy="201168"/>
          </a:xfrm>
          <a:prstGeom prst="rect">
            <a:avLst/>
          </a:prstGeom>
          <a:solidFill>
            <a:srgbClr val="7B9BBD"/>
          </a:solidFill>
          <a:ln w="12700">
            <a:solidFill>
              <a:srgbClr val="7B9BB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Text 26"/>
          <p:cNvSpPr/>
          <p:nvPr/>
        </p:nvSpPr>
        <p:spPr>
          <a:xfrm>
            <a:off x="6940296" y="22768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9160" y="2642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(row spacing)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2688336"/>
            <a:ext cx="36576" cy="201168"/>
          </a:xfrm>
          <a:prstGeom prst="rect">
            <a:avLst/>
          </a:prstGeom>
          <a:solidFill>
            <a:srgbClr val="7B9BBD"/>
          </a:solidFill>
          <a:ln w="12700">
            <a:solidFill>
              <a:srgbClr val="7B9BB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Text 29"/>
          <p:cNvSpPr/>
          <p:nvPr/>
        </p:nvSpPr>
        <p:spPr>
          <a:xfrm>
            <a:off x="6940296" y="267004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0" y="3291840"/>
            <a:ext cx="4251960" cy="1554480"/>
          </a:xfrm>
          <a:prstGeom prst="rect">
            <a:avLst/>
          </a:prstGeom>
          <a:solidFill>
            <a:srgbClr val="FFF4E0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3" name="Text 31"/>
          <p:cNvSpPr/>
          <p:nvPr/>
        </p:nvSpPr>
        <p:spPr>
          <a:xfrm>
            <a:off x="4709160" y="33649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Important limitation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09160" y="370332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POA_day dominates with 98% feature importance — the model has learned the weather effect (more sun = more yield), not the configuration effect (RA, MN, HN).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interpolation within measured configs, not robust extrapolation to HN=40°.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Mini-PVA Totalp  |  Group 1: HN ≥ 20°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ground slopes (HN=20–30°) favour flatter module tilts, optimal MN decreases as HN increases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row spacing consistently improves yield by reducing inter-row shading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Back-side yield contributes ~25% on average, up to 40% on snow days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calendar shows lowest yields in early Oct and Dec–Jan, with peak yields in Feb–Mar due to snow albedo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(R²=0.94) captures weather effects well but cannot reliably separate configuration effects</a:t>
            </a:r>
          </a:p>
        </p:txBody>
      </p:sp>
      <p:sp>
        <p:nvSpPr>
          <p:cNvPr id="11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7B9BB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&amp; Energy Engineering – ZHAW  |  Chantal Fuchs, Lejla Beganovic, Nicola Noger  |  March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09AB7C-EEBC-8F51-5F84-840A5FC4111D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5C79FF1-3A65-9477-FF8A-0E6632A90964}"/>
              </a:ext>
            </a:extLst>
          </p:cNvPr>
          <p:cNvSpPr txBox="1"/>
          <p:nvPr/>
        </p:nvSpPr>
        <p:spPr>
          <a:xfrm>
            <a:off x="1267097" y="1910030"/>
            <a:ext cx="75255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</a:p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2533891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1153</Words>
  <Application>Microsoft Office PowerPoint</Application>
  <PresentationFormat>Bildschirmpräsentation (16:9)</PresentationFormat>
  <Paragraphs>171</Paragraphs>
  <Slides>12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Mini-PVA Totalp – Alpine PV Performance Analysis</dc:title>
  <dc:subject>PptxGenJS Presentation</dc:subject>
  <dc:creator>PptxGenJS</dc:creator>
  <cp:lastModifiedBy>Beganovic Lejla (beganlej)</cp:lastModifiedBy>
  <cp:revision>5</cp:revision>
  <dcterms:created xsi:type="dcterms:W3CDTF">2026-03-23T12:55:20Z</dcterms:created>
  <dcterms:modified xsi:type="dcterms:W3CDTF">2026-03-23T14:44:25Z</dcterms:modified>
</cp:coreProperties>
</file>